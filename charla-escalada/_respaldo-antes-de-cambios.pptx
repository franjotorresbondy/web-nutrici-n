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1" r:id="rId6"/>
    <p:sldId id="262" r:id="rId7"/>
    <p:sldId id="263" r:id="rId8"/>
    <p:sldId id="264" r:id="rId9"/>
    <p:sldId id="266" r:id="rId10"/>
    <p:sldId id="267" r:id="rId11"/>
    <p:sldId id="268" r:id="rId12"/>
    <p:sldId id="269" r:id="rId13"/>
    <p:sldId id="270" r:id="rId14"/>
    <p:sldId id="271" r:id="rId15"/>
    <p:sldId id="273"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Lst>
  <p:sldSz cx="12192000" cy="6858000"/>
  <p:notesSz cx="6858000" cy="9144000"/>
  <p:defaultTextStyle>
    <a:defPPr>
      <a:defRPr lang="es-PE"/>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9" y="60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69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0:00 - Antes de hablar, pide que todos se paren. "Levanta la mano si hoy viniste a entrenar sin haber comido nada en las ultimas 3 horas." Cuenta las manos en voz alta: ese numero es tu gancho.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1:30 - Saca tu celular y muestralo. Pregunta directa: "Quien ha sentido que en el intento 4 o 5 los dedos ya no responden aunque la cabeza si quiere?"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3:00 - Momento clave del tono de toda la charla. Di esto tal cual: "Hoy no vamos a hablar de bajar de peso. Ni una sola vez. Vamos a hablar de PODER MAS."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4:00 - Marca los tres tiempos con las manos. Analogia de auto: el primero es el nitro, el segundo la gasolina, el tercero el alternador que recarga la bateria. Pregunta: "Quien ha visto que su cuarto intento es mucho peor que el primero? Eso es el motor 3 sin combustible."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4:30 - El glucogeno es la bateria; la grasa es el cargador lento. Un dyno, un crimp al maximo, un talon bloqueado: eso se paga SOLO con glucogeno.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6:00 - Senala la caida de la barra roja en el intento 4. "Y saben cual es el intento donde normalmente sale el proyecto? El 5, el 6, el 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7:30 - DINAMICA. Pregunta una por una y anota las manos. No juzgues ninguna respuesta: solo cuenta y comenta con humor. Cierra con: "Los de la ultima fila hoy escalan con la mitad de su tanque."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10:00 - Regla simple. Repitela dos veces y haz que la digan en voz alta: "3 - 1 - 0".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13:30 - Rapido y con humor. Sobre energizantes se firme: la cafeina en esa dosis a su edad acelera el corazon y roba el sueno, que es donde te vuelves fuerte.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15:00 - DINAMICA ESTRELLA. Se van a reir, aprovechalo. Cierra en serio con el dato del 2%.</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17:00 - Muestra tu propia botella. Truco: la botella al lado de la colchoneta. Lo que no ves, no lo tomas.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18:00 - Gancho seguro: pregunta quien termina el entreno con marcas blancas en la polera o la gorra. "Esos son ustedes perdiendo sal, no polvo de magnesio." Aclara el matiz: para una sesion normal el agua sola basta.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19:30 - Haz el calculo EN VIVO con un voluntario: preguntale su peso y resuelvelo en voz alta. Importantisimo el encuadre de la balanza: "No te pesas para saber cuanto pesas. Te pesas para saber cuanta agua perdiste." Dilo tal cual, o alguien se va con la idea equivocada.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18:30 - Habito de mayor impacto real: la mayoria entrena de 7 a 9pm y llega a casa sin comer. "No entrenas para hoy, entrenas para el acumulado."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21:30 - Lo importante no es acertar: es que vean que "la mas rica" no siempre es la que repara. Sin culpa: el objetivo es criterio, no prohibicion.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25:00 - Dato local: Lima esta nublada media parte del ano, la garua nos tapa el sol. Eso nos pone en desventaja con la vitamina D frente a la sierra o la selva.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26:30 - Habla directo y con respeto. Sintoma clave: te cansas en el calentamiento y crees que estas fuera de forma, cuando en realidad te falta hierro.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27:30 - Momento "iugh" garantizado con la sangrecita. Aprovecha el asco colectivo: es memorable. Truco que se recuerda: limon sobre la lenteja.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29:00 - CLIMAX DE LA CHARLA. Baja la voz, camina hacia ellos. Reconoce primero que la idea tiene logica: si no, no te creen. Luego demuestrala falsa.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30:00 - Aqui dejas de ser "el nutricionista que opina" y pasas a mostrar datos. Leelos despacio, uno por uno. El tercero es el mas duro: son escaladoras de Copa del Mundo, las mejores del planeta.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30:30 - Lee las dos columnas en voz alta, sin prisa. Deja silencio al terminar la izquierda.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32:00 - Silencio. Cuenta hasta tres antes de hablar. Pide que la repitan en voz alta todos juntos. Agrega: "Si alguien aca esta preocupado por su peso, ven a hablar conmigo al terminar. En serio."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33:00 - DINAMICA FINAL. Lee cada tarjeta, pide voto a mano alzada y recien ahi lee el veredicto. Maximo un minuto por tarjeta. Si el tiempo aprieta, haz solo cuatro.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35:00 - Bloque solo para dia de competencia, no para el martes cualquiera. Abre asi: "Todo lo anterior es la base. Esto es la cereza, y la cereza sin torta no sirve de nada." Se honesto con lo del unico estudio en adolescentes: esa honestidad es la que te compra credibilidad.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37:00 - Si puedes, llevalo preparado y que lo prueben: el sabor es la mitad de la batalla. Insiste en las dos reglas que la gente rompe: nada de enjuague bucal ese dia, y probarlo en un entreno antes. Y avisa lo del pipi rosado o vas a recibir un mensaje de un papa asustado el domingo.</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36:00 - Se tajante con energizantes y quemadores. Con la creatina NO exageres: si les dices que es peligrosa te van a pillar, porque la evidencia dice otra cosa y ellos la buscan en el celular. Decir la verdad completa te da credibilidad para todo lo demas.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38:00 - Reta al grupo: "Quiero que la proxima semana me digan cuantas marcaron." Reparte aqui la tarjeta impresa del reto.</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40:00 - Cierre. Repite la frase una ultima vez y abre a preguntas. Ofrecete explicitamente para quien tenga dudas sobre su cuerpo o su peso.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Lamina de respaldo. No la muestres en la charla salvo que un papa, una mama o un entrenador pregunte de donde salen los numeros. Tenerla a mano es la diferencia entre "el nutricionista dijo" y "esto esta publicado".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Lst>
  <p:txStyles>
    <p:titleStyle>
      <a:lvl1pPr algn="l">
        <a:defRPr sz="4000" b="1">
          <a:solidFill>
            <a:schemeClr val="lt1"/>
          </a:solidFill>
          <a:latin typeface="+mj-lt"/>
        </a:defRPr>
      </a:lvl1pPr>
    </p:titleStyle>
    <p:bodyStyle>
      <a:lvl1pPr>
        <a:defRPr sz="1600">
          <a:solidFill>
            <a:schemeClr val="lt2"/>
          </a:solidFill>
          <a:latin typeface="+mn-lt"/>
        </a:defRPr>
      </a:lvl1pPr>
    </p:bodyStyle>
    <p:otherStyle>
      <a:lvl1pPr>
        <a:defRPr sz="1600">
          <a:solidFill>
            <a:schemeClr val="lt2"/>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f3"/>
          <p:cNvSpPr/>
          <p:nvPr/>
        </p:nvSpPr>
        <p:spPr>
          <a:xfrm>
            <a:off x="685800" y="960120"/>
            <a:ext cx="82296" cy="502920"/>
          </a:xfrm>
          <a:prstGeom prst="rect">
            <a:avLst/>
          </a:prstGeom>
          <a:solidFill>
            <a:srgbClr val="FF5A36"/>
          </a:solidFill>
          <a:ln>
            <a:noFill/>
          </a:ln>
        </p:spPr>
        <p:txBody>
          <a:bodyPr/>
          <a:lstStyle/>
          <a:p>
            <a:endParaRPr lang="es-PE"/>
          </a:p>
        </p:txBody>
      </p:sp>
      <p:sp>
        <p:nvSpPr>
          <p:cNvPr id="4" name="t4"/>
          <p:cNvSpPr txBox="1"/>
          <p:nvPr/>
        </p:nvSpPr>
        <p:spPr>
          <a:xfrm>
            <a:off x="960120" y="960120"/>
            <a:ext cx="8229600" cy="365760"/>
          </a:xfrm>
          <a:prstGeom prst="rect">
            <a:avLst/>
          </a:prstGeom>
          <a:noFill/>
        </p:spPr>
        <p:txBody>
          <a:bodyPr wrap="square" lIns="0" tIns="0" rIns="0" bIns="0" anchor="t">
            <a:normAutofit/>
          </a:bodyPr>
          <a:lstStyle/>
          <a:p>
            <a:pPr algn="l">
              <a:lnSpc>
                <a:spcPct val="100000"/>
              </a:lnSpc>
              <a:spcBef>
                <a:spcPts val="0"/>
              </a:spcBef>
            </a:pPr>
            <a:r>
              <a:rPr lang="es-PE" sz="1050" b="0" spc="300" dirty="0">
                <a:solidFill>
                  <a:srgbClr val="6B8286"/>
                </a:solidFill>
                <a:latin typeface="Consolas"/>
                <a:cs typeface="Consolas"/>
              </a:rPr>
              <a:t>CHARLA PARA ESCALADORES DE 11 A 16 AÑOS</a:t>
            </a:r>
          </a:p>
        </p:txBody>
      </p:sp>
      <p:sp>
        <p:nvSpPr>
          <p:cNvPr id="5" name="t5"/>
          <p:cNvSpPr txBox="1"/>
          <p:nvPr/>
        </p:nvSpPr>
        <p:spPr>
          <a:xfrm>
            <a:off x="685800" y="1783080"/>
            <a:ext cx="10058400" cy="2651760"/>
          </a:xfrm>
          <a:prstGeom prst="rect">
            <a:avLst/>
          </a:prstGeom>
          <a:noFill/>
        </p:spPr>
        <p:txBody>
          <a:bodyPr wrap="square" lIns="0" tIns="0" rIns="0" bIns="0" anchor="t">
            <a:normAutofit/>
          </a:bodyPr>
          <a:lstStyle/>
          <a:p>
            <a:pPr algn="l">
              <a:lnSpc>
                <a:spcPct val="88000"/>
              </a:lnSpc>
              <a:spcBef>
                <a:spcPts val="0"/>
              </a:spcBef>
            </a:pPr>
            <a:r>
              <a:rPr lang="es-PE" sz="8000" b="1" spc="0" dirty="0">
                <a:solidFill>
                  <a:srgbClr val="F2F6F4"/>
                </a:solidFill>
                <a:latin typeface="Arial Black"/>
                <a:cs typeface="Arial Black"/>
              </a:rPr>
              <a:t>BETA</a:t>
            </a:r>
          </a:p>
          <a:p>
            <a:pPr algn="l">
              <a:lnSpc>
                <a:spcPct val="88000"/>
              </a:lnSpc>
              <a:spcBef>
                <a:spcPts val="0"/>
              </a:spcBef>
            </a:pPr>
            <a:r>
              <a:rPr lang="es-PE" sz="8000" b="1" spc="0" dirty="0">
                <a:solidFill>
                  <a:srgbClr val="F2F6F4"/>
                </a:solidFill>
                <a:latin typeface="Arial Black"/>
                <a:cs typeface="Arial Black"/>
              </a:rPr>
              <a:t>NUTRICIONAL</a:t>
            </a:r>
          </a:p>
        </p:txBody>
      </p:sp>
      <p:sp>
        <p:nvSpPr>
          <p:cNvPr id="6" name="t6"/>
          <p:cNvSpPr txBox="1"/>
          <p:nvPr/>
        </p:nvSpPr>
        <p:spPr>
          <a:xfrm>
            <a:off x="685800" y="4617720"/>
            <a:ext cx="7772400" cy="822960"/>
          </a:xfrm>
          <a:prstGeom prst="rect">
            <a:avLst/>
          </a:prstGeom>
          <a:noFill/>
        </p:spPr>
        <p:txBody>
          <a:bodyPr wrap="square" lIns="0" tIns="0" rIns="0" bIns="0" anchor="t">
            <a:normAutofit/>
          </a:bodyPr>
          <a:lstStyle/>
          <a:p>
            <a:pPr algn="l">
              <a:lnSpc>
                <a:spcPct val="120000"/>
              </a:lnSpc>
              <a:spcBef>
                <a:spcPts val="0"/>
              </a:spcBef>
            </a:pPr>
            <a:r>
              <a:rPr lang="es-PE" sz="2000" b="0" spc="0" dirty="0">
                <a:solidFill>
                  <a:srgbClr val="FF5A36"/>
                </a:solidFill>
                <a:latin typeface="Calibri"/>
                <a:cs typeface="Calibri"/>
              </a:rPr>
              <a:t>Cómo comer para pegar el bloque que hoy se te escapa.</a:t>
            </a:r>
          </a:p>
        </p:txBody>
      </p:sp>
      <p:sp>
        <p:nvSpPr>
          <p:cNvPr id="7" name="f7"/>
          <p:cNvSpPr/>
          <p:nvPr/>
        </p:nvSpPr>
        <p:spPr>
          <a:xfrm>
            <a:off x="685800" y="5715000"/>
            <a:ext cx="10789920" cy="18288"/>
          </a:xfrm>
          <a:prstGeom prst="rect">
            <a:avLst/>
          </a:prstGeom>
          <a:solidFill>
            <a:srgbClr val="2B4149"/>
          </a:solidFill>
          <a:ln>
            <a:noFill/>
          </a:ln>
        </p:spPr>
        <p:txBody>
          <a:bodyPr/>
          <a:lstStyle/>
          <a:p>
            <a:endParaRPr lang="es-PE"/>
          </a:p>
        </p:txBody>
      </p:sp>
      <p:sp>
        <p:nvSpPr>
          <p:cNvPr id="8" name="t8"/>
          <p:cNvSpPr txBox="1"/>
          <p:nvPr/>
        </p:nvSpPr>
        <p:spPr>
          <a:xfrm>
            <a:off x="685800" y="5943600"/>
            <a:ext cx="5486400" cy="320040"/>
          </a:xfrm>
          <a:prstGeom prst="rect">
            <a:avLst/>
          </a:prstGeom>
          <a:noFill/>
        </p:spPr>
        <p:txBody>
          <a:bodyPr wrap="square" lIns="0" tIns="0" rIns="0" bIns="0" anchor="t">
            <a:normAutofit/>
          </a:bodyPr>
          <a:lstStyle/>
          <a:p>
            <a:pPr algn="l">
              <a:lnSpc>
                <a:spcPct val="100000"/>
              </a:lnSpc>
              <a:spcBef>
                <a:spcPts val="0"/>
              </a:spcBef>
            </a:pPr>
            <a:r>
              <a:rPr lang="es-PE" sz="1150" b="1" spc="60" dirty="0">
                <a:solidFill>
                  <a:srgbClr val="F2F6F4"/>
                </a:solidFill>
                <a:latin typeface="Arial Black"/>
                <a:cs typeface="Arial Black"/>
              </a:rPr>
              <a:t>FRANJO TORRES BONDY</a:t>
            </a:r>
          </a:p>
        </p:txBody>
      </p:sp>
      <p:sp>
        <p:nvSpPr>
          <p:cNvPr id="9" name="t9"/>
          <p:cNvSpPr txBox="1"/>
          <p:nvPr/>
        </p:nvSpPr>
        <p:spPr>
          <a:xfrm>
            <a:off x="6858000" y="5971032"/>
            <a:ext cx="4617720" cy="320040"/>
          </a:xfrm>
          <a:prstGeom prst="rect">
            <a:avLst/>
          </a:prstGeom>
          <a:noFill/>
        </p:spPr>
        <p:txBody>
          <a:bodyPr wrap="square" lIns="0" tIns="0" rIns="0" bIns="0" anchor="t">
            <a:normAutofit/>
          </a:bodyPr>
          <a:lstStyle/>
          <a:p>
            <a:pPr algn="r">
              <a:lnSpc>
                <a:spcPct val="100000"/>
              </a:lnSpc>
              <a:spcBef>
                <a:spcPts val="0"/>
              </a:spcBef>
            </a:pPr>
            <a:r>
              <a:rPr lang="es-PE" sz="1150" b="0" spc="0" dirty="0">
                <a:solidFill>
                  <a:srgbClr val="FF5A36"/>
                </a:solidFill>
                <a:latin typeface="Consolas"/>
                <a:cs typeface="Consolas"/>
              </a:rPr>
              <a:t>@el_nutricionistafranjo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EL PROBLEMA DE SIEMPRE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V0</a:t>
            </a:r>
          </a:p>
        </p:txBody>
      </p:sp>
      <p:sp>
        <p:nvSpPr>
          <p:cNvPr id="6" name="t6"/>
          <p:cNvSpPr txBox="1"/>
          <p:nvPr/>
        </p:nvSpPr>
        <p:spPr>
          <a:xfrm>
            <a:off x="685800" y="1051560"/>
            <a:ext cx="5852160" cy="2011680"/>
          </a:xfrm>
          <a:prstGeom prst="rect">
            <a:avLst/>
          </a:prstGeom>
          <a:noFill/>
        </p:spPr>
        <p:txBody>
          <a:bodyPr wrap="square" lIns="0" tIns="0" rIns="0" bIns="0" anchor="t">
            <a:normAutofit/>
          </a:bodyPr>
          <a:lstStyle/>
          <a:p>
            <a:pPr algn="l">
              <a:lnSpc>
                <a:spcPct val="92000"/>
              </a:lnSpc>
              <a:spcBef>
                <a:spcPts val="0"/>
              </a:spcBef>
            </a:pPr>
            <a:r>
              <a:rPr lang="es-PE" sz="3600" b="1" spc="0" dirty="0">
                <a:solidFill>
                  <a:srgbClr val="F2F6F4"/>
                </a:solidFill>
                <a:latin typeface="Arial Black"/>
                <a:cs typeface="Arial Black"/>
              </a:rPr>
              <a:t>TU CUERPO TIENE</a:t>
            </a:r>
          </a:p>
          <a:p>
            <a:pPr algn="l">
              <a:lnSpc>
                <a:spcPct val="92000"/>
              </a:lnSpc>
              <a:spcBef>
                <a:spcPts val="0"/>
              </a:spcBef>
            </a:pPr>
            <a:r>
              <a:rPr lang="es-PE" sz="3600" b="1" spc="0" dirty="0">
                <a:solidFill>
                  <a:srgbClr val="F2F6F4"/>
                </a:solidFill>
                <a:latin typeface="Arial Black"/>
                <a:cs typeface="Arial Black"/>
              </a:rPr>
              <a:t>BATERÍA. Y CASI</a:t>
            </a:r>
          </a:p>
          <a:p>
            <a:pPr algn="l">
              <a:lnSpc>
                <a:spcPct val="92000"/>
              </a:lnSpc>
              <a:spcBef>
                <a:spcPts val="0"/>
              </a:spcBef>
            </a:pPr>
            <a:r>
              <a:rPr lang="es-PE" sz="3600" b="1" spc="0" dirty="0">
                <a:solidFill>
                  <a:srgbClr val="FF5A36"/>
                </a:solidFill>
                <a:latin typeface="Arial Black"/>
                <a:cs typeface="Arial Black"/>
              </a:rPr>
              <a:t>NADIE LA CARGA.</a:t>
            </a:r>
          </a:p>
        </p:txBody>
      </p:sp>
      <p:sp>
        <p:nvSpPr>
          <p:cNvPr id="7" name="t7"/>
          <p:cNvSpPr txBox="1"/>
          <p:nvPr/>
        </p:nvSpPr>
        <p:spPr>
          <a:xfrm>
            <a:off x="685800" y="3794760"/>
            <a:ext cx="5669280" cy="2194560"/>
          </a:xfrm>
          <a:prstGeom prst="rect">
            <a:avLst/>
          </a:prstGeom>
          <a:noFill/>
        </p:spPr>
        <p:txBody>
          <a:bodyPr wrap="square" lIns="0" tIns="0" rIns="0" bIns="0" anchor="t">
            <a:normAutofit/>
          </a:bodyPr>
          <a:lstStyle/>
          <a:p>
            <a:pPr algn="l">
              <a:lnSpc>
                <a:spcPct val="125000"/>
              </a:lnSpc>
              <a:spcBef>
                <a:spcPts val="0"/>
              </a:spcBef>
            </a:pPr>
            <a:r>
              <a:rPr lang="es-PE" sz="1600" b="0" spc="0" dirty="0">
                <a:solidFill>
                  <a:srgbClr val="9DB2B0"/>
                </a:solidFill>
                <a:latin typeface="Calibri"/>
                <a:cs typeface="Calibri"/>
              </a:rPr>
              <a:t>No es que te falte fuerza. Es que te quedaste sin combustible a la mitad de la sesión, y la fuerza que sí tenías no la pudiste usar.</a:t>
            </a:r>
          </a:p>
        </p:txBody>
      </p:sp>
      <p:sp>
        <p:nvSpPr>
          <p:cNvPr id="8" name="f8"/>
          <p:cNvSpPr/>
          <p:nvPr/>
        </p:nvSpPr>
        <p:spPr>
          <a:xfrm>
            <a:off x="7040880" y="1965960"/>
            <a:ext cx="4114800" cy="1691640"/>
          </a:xfrm>
          <a:prstGeom prst="roundRect">
            <a:avLst>
              <a:gd name="adj" fmla="val 4000"/>
            </a:avLst>
          </a:prstGeom>
          <a:noFill/>
          <a:ln w="12700">
            <a:solidFill>
              <a:srgbClr val="F2F6F4"/>
            </a:solidFill>
          </a:ln>
        </p:spPr>
        <p:txBody>
          <a:bodyPr/>
          <a:lstStyle/>
          <a:p>
            <a:endParaRPr lang="es-PE"/>
          </a:p>
        </p:txBody>
      </p:sp>
      <p:sp>
        <p:nvSpPr>
          <p:cNvPr id="9" name="f9"/>
          <p:cNvSpPr/>
          <p:nvPr/>
        </p:nvSpPr>
        <p:spPr>
          <a:xfrm>
            <a:off x="7223760" y="2148840"/>
            <a:ext cx="475488" cy="1325880"/>
          </a:xfrm>
          <a:prstGeom prst="roundRect">
            <a:avLst>
              <a:gd name="adj" fmla="val 4000"/>
            </a:avLst>
          </a:prstGeom>
          <a:solidFill>
            <a:srgbClr val="FF4D5E"/>
          </a:solidFill>
          <a:ln>
            <a:noFill/>
          </a:ln>
        </p:spPr>
        <p:txBody>
          <a:bodyPr/>
          <a:lstStyle/>
          <a:p>
            <a:endParaRPr lang="es-PE"/>
          </a:p>
        </p:txBody>
      </p:sp>
      <p:sp>
        <p:nvSpPr>
          <p:cNvPr id="10" name="f10"/>
          <p:cNvSpPr/>
          <p:nvPr/>
        </p:nvSpPr>
        <p:spPr>
          <a:xfrm>
            <a:off x="11100816" y="2514600"/>
            <a:ext cx="201168" cy="594360"/>
          </a:xfrm>
          <a:prstGeom prst="rect">
            <a:avLst/>
          </a:prstGeom>
          <a:solidFill>
            <a:srgbClr val="F2F6F4"/>
          </a:solidFill>
          <a:ln>
            <a:noFill/>
          </a:ln>
        </p:spPr>
        <p:txBody>
          <a:bodyPr/>
          <a:lstStyle/>
          <a:p>
            <a:endParaRPr lang="es-PE"/>
          </a:p>
        </p:txBody>
      </p:sp>
      <p:sp>
        <p:nvSpPr>
          <p:cNvPr id="11" name="t11"/>
          <p:cNvSpPr txBox="1"/>
          <p:nvPr/>
        </p:nvSpPr>
        <p:spPr>
          <a:xfrm>
            <a:off x="7040880" y="3886200"/>
            <a:ext cx="4114800" cy="822960"/>
          </a:xfrm>
          <a:prstGeom prst="rect">
            <a:avLst/>
          </a:prstGeom>
          <a:noFill/>
        </p:spPr>
        <p:txBody>
          <a:bodyPr wrap="square" lIns="0" tIns="0" rIns="0" bIns="0" anchor="t">
            <a:normAutofit/>
          </a:bodyPr>
          <a:lstStyle/>
          <a:p>
            <a:pPr algn="l">
              <a:lnSpc>
                <a:spcPct val="100000"/>
              </a:lnSpc>
              <a:spcBef>
                <a:spcPts val="0"/>
              </a:spcBef>
            </a:pPr>
            <a:r>
              <a:rPr lang="es-PE" sz="4400" b="1" spc="0" dirty="0">
                <a:solidFill>
                  <a:srgbClr val="FF4D5E"/>
                </a:solidFill>
                <a:latin typeface="Consolas"/>
                <a:cs typeface="Consolas"/>
              </a:rPr>
              <a:t>12%</a:t>
            </a:r>
          </a:p>
        </p:txBody>
      </p:sp>
      <p:sp>
        <p:nvSpPr>
          <p:cNvPr id="12" name="t12"/>
          <p:cNvSpPr txBox="1"/>
          <p:nvPr/>
        </p:nvSpPr>
        <p:spPr>
          <a:xfrm>
            <a:off x="7040880" y="4846320"/>
            <a:ext cx="4206240" cy="1005840"/>
          </a:xfrm>
          <a:prstGeom prst="rect">
            <a:avLst/>
          </a:prstGeom>
          <a:noFill/>
        </p:spPr>
        <p:txBody>
          <a:bodyPr wrap="square" lIns="0" tIns="0" rIns="0" bIns="0" anchor="t">
            <a:normAutofit/>
          </a:bodyPr>
          <a:lstStyle/>
          <a:p>
            <a:pPr algn="l">
              <a:lnSpc>
                <a:spcPct val="122000"/>
              </a:lnSpc>
              <a:spcBef>
                <a:spcPts val="0"/>
              </a:spcBef>
            </a:pPr>
            <a:r>
              <a:rPr lang="es-PE" sz="1400" b="0" spc="0" dirty="0">
                <a:solidFill>
                  <a:srgbClr val="9DB2B0"/>
                </a:solidFill>
                <a:latin typeface="Calibri"/>
                <a:cs typeface="Calibri"/>
              </a:rPr>
              <a:t>Si tu celular está en 12% no sales de casa. ¿Por qué entras así al muro?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CAMBIEMOS LA PREGUNTA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V0</a:t>
            </a:r>
          </a:p>
        </p:txBody>
      </p:sp>
      <p:sp>
        <p:nvSpPr>
          <p:cNvPr id="6" name="t6"/>
          <p:cNvSpPr txBox="1"/>
          <p:nvPr/>
        </p:nvSpPr>
        <p:spPr>
          <a:xfrm>
            <a:off x="685800" y="1325880"/>
            <a:ext cx="10789920" cy="1005840"/>
          </a:xfrm>
          <a:prstGeom prst="rect">
            <a:avLst/>
          </a:prstGeom>
          <a:noFill/>
        </p:spPr>
        <p:txBody>
          <a:bodyPr wrap="square" lIns="0" tIns="0" rIns="0" bIns="0" anchor="t">
            <a:normAutofit/>
          </a:bodyPr>
          <a:lstStyle/>
          <a:p>
            <a:pPr algn="l">
              <a:lnSpc>
                <a:spcPct val="100000"/>
              </a:lnSpc>
              <a:spcBef>
                <a:spcPts val="0"/>
              </a:spcBef>
            </a:pPr>
            <a:r>
              <a:rPr lang="es-PE" sz="4400" b="1" spc="0" dirty="0">
                <a:solidFill>
                  <a:srgbClr val="6B8286"/>
                </a:solidFill>
                <a:latin typeface="Arial Black"/>
                <a:cs typeface="Arial Black"/>
              </a:rPr>
              <a:t>¿CUÁNTO PESAS?</a:t>
            </a:r>
          </a:p>
        </p:txBody>
      </p:sp>
      <p:sp>
        <p:nvSpPr>
          <p:cNvPr id="7" name="f7"/>
          <p:cNvSpPr/>
          <p:nvPr/>
        </p:nvSpPr>
        <p:spPr>
          <a:xfrm>
            <a:off x="1391658" y="1603838"/>
            <a:ext cx="4160520" cy="54864"/>
          </a:xfrm>
          <a:prstGeom prst="rect">
            <a:avLst/>
          </a:prstGeom>
          <a:solidFill>
            <a:srgbClr val="FF4D5E"/>
          </a:solidFill>
          <a:ln>
            <a:noFill/>
          </a:ln>
        </p:spPr>
        <p:txBody>
          <a:bodyPr/>
          <a:lstStyle/>
          <a:p>
            <a:endParaRPr lang="es-PE"/>
          </a:p>
        </p:txBody>
      </p:sp>
      <p:sp>
        <p:nvSpPr>
          <p:cNvPr id="8" name="t8"/>
          <p:cNvSpPr txBox="1"/>
          <p:nvPr/>
        </p:nvSpPr>
        <p:spPr>
          <a:xfrm>
            <a:off x="685800" y="2788920"/>
            <a:ext cx="10789920" cy="2103120"/>
          </a:xfrm>
          <a:prstGeom prst="rect">
            <a:avLst/>
          </a:prstGeom>
          <a:noFill/>
        </p:spPr>
        <p:txBody>
          <a:bodyPr wrap="square" lIns="0" tIns="0" rIns="0" bIns="0" anchor="t">
            <a:normAutofit/>
          </a:bodyPr>
          <a:lstStyle/>
          <a:p>
            <a:pPr algn="l">
              <a:lnSpc>
                <a:spcPct val="94000"/>
              </a:lnSpc>
              <a:spcBef>
                <a:spcPts val="0"/>
              </a:spcBef>
            </a:pPr>
            <a:r>
              <a:rPr lang="es-PE" sz="4400" b="1" spc="0" dirty="0">
                <a:solidFill>
                  <a:srgbClr val="FF5A36"/>
                </a:solidFill>
                <a:latin typeface="Arial Black"/>
                <a:cs typeface="Arial Black"/>
              </a:rPr>
              <a:t>¿QÚE TANTA FUERZA SIENTES QUE TE QUEDA A LA MITAD DE TU ENTRENAMIENTO?</a:t>
            </a:r>
          </a:p>
        </p:txBody>
      </p:sp>
      <p:sp>
        <p:nvSpPr>
          <p:cNvPr id="9" name="f9"/>
          <p:cNvSpPr/>
          <p:nvPr/>
        </p:nvSpPr>
        <p:spPr>
          <a:xfrm>
            <a:off x="685800" y="5257800"/>
            <a:ext cx="10789920" cy="18288"/>
          </a:xfrm>
          <a:prstGeom prst="rect">
            <a:avLst/>
          </a:prstGeom>
          <a:solidFill>
            <a:srgbClr val="2B4149"/>
          </a:solidFill>
          <a:ln>
            <a:noFill/>
          </a:ln>
        </p:spPr>
        <p:txBody>
          <a:bodyPr/>
          <a:lstStyle/>
          <a:p>
            <a:endParaRPr lang="es-PE"/>
          </a:p>
        </p:txBody>
      </p:sp>
      <p:sp>
        <p:nvSpPr>
          <p:cNvPr id="10" name="t10"/>
          <p:cNvSpPr txBox="1"/>
          <p:nvPr/>
        </p:nvSpPr>
        <p:spPr>
          <a:xfrm>
            <a:off x="685800" y="5486400"/>
            <a:ext cx="10789920" cy="822960"/>
          </a:xfrm>
          <a:prstGeom prst="rect">
            <a:avLst/>
          </a:prstGeom>
          <a:noFill/>
        </p:spPr>
        <p:txBody>
          <a:bodyPr wrap="square" lIns="0" tIns="0" rIns="0" bIns="0" anchor="t">
            <a:normAutofit/>
          </a:bodyPr>
          <a:lstStyle/>
          <a:p>
            <a:pPr algn="l">
              <a:lnSpc>
                <a:spcPct val="122000"/>
              </a:lnSpc>
              <a:spcBef>
                <a:spcPts val="0"/>
              </a:spcBef>
            </a:pPr>
            <a:r>
              <a:rPr lang="es-PE" sz="1600" b="0" spc="0" dirty="0">
                <a:solidFill>
                  <a:srgbClr val="9DB2B0"/>
                </a:solidFill>
                <a:latin typeface="Calibri"/>
                <a:cs typeface="Calibri"/>
              </a:rPr>
              <a:t>La primera pregunta te mete en un hueco. La segunda te hace mejor escalador. Toda esta charla va de la segunda.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NO TIENES UN MOTOR… TIENES TRES.</a:t>
            </a:r>
          </a:p>
        </p:txBody>
      </p:sp>
      <p:sp>
        <p:nvSpPr>
          <p:cNvPr id="7" name="f7"/>
          <p:cNvSpPr/>
          <p:nvPr/>
        </p:nvSpPr>
        <p:spPr>
          <a:xfrm>
            <a:off x="685800" y="210312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8" name="f8"/>
          <p:cNvSpPr/>
          <p:nvPr/>
        </p:nvSpPr>
        <p:spPr>
          <a:xfrm>
            <a:off x="960120" y="2450592"/>
            <a:ext cx="1371600" cy="402336"/>
          </a:xfrm>
          <a:prstGeom prst="roundRect">
            <a:avLst>
              <a:gd name="adj" fmla="val 20000"/>
            </a:avLst>
          </a:prstGeom>
          <a:solidFill>
            <a:srgbClr val="FFC93C"/>
          </a:solidFill>
          <a:ln>
            <a:noFill/>
          </a:ln>
        </p:spPr>
        <p:txBody>
          <a:bodyPr/>
          <a:lstStyle/>
          <a:p>
            <a:endParaRPr lang="es-PE"/>
          </a:p>
        </p:txBody>
      </p:sp>
      <p:sp>
        <p:nvSpPr>
          <p:cNvPr id="9" name="t9"/>
          <p:cNvSpPr txBox="1"/>
          <p:nvPr/>
        </p:nvSpPr>
        <p:spPr>
          <a:xfrm>
            <a:off x="960120" y="2560320"/>
            <a:ext cx="1371600" cy="23774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0A1013"/>
                </a:solidFill>
                <a:latin typeface="Consolas"/>
                <a:cs typeface="Consolas"/>
              </a:rPr>
              <a:t>0 – 10 s</a:t>
            </a:r>
          </a:p>
        </p:txBody>
      </p:sp>
      <p:sp>
        <p:nvSpPr>
          <p:cNvPr id="10" name="t10"/>
          <p:cNvSpPr txBox="1"/>
          <p:nvPr/>
        </p:nvSpPr>
        <p:spPr>
          <a:xfrm>
            <a:off x="2560320" y="2322576"/>
            <a:ext cx="8595360" cy="310896"/>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FC93C"/>
                </a:solidFill>
                <a:latin typeface="Arial Black"/>
                <a:cs typeface="Arial Black"/>
              </a:rPr>
              <a:t>EL EXPLOSIVO · FOSFOCREATINA</a:t>
            </a:r>
          </a:p>
        </p:txBody>
      </p:sp>
      <p:sp>
        <p:nvSpPr>
          <p:cNvPr id="11" name="t11"/>
          <p:cNvSpPr txBox="1"/>
          <p:nvPr/>
        </p:nvSpPr>
        <p:spPr>
          <a:xfrm>
            <a:off x="2560320" y="2706624"/>
            <a:ext cx="8595360" cy="274320"/>
          </a:xfrm>
          <a:prstGeom prst="rect">
            <a:avLst/>
          </a:prstGeom>
          <a:noFill/>
        </p:spPr>
        <p:txBody>
          <a:bodyPr wrap="square" lIns="0" tIns="0" rIns="0" bIns="0" anchor="t">
            <a:normAutofit/>
          </a:bodyPr>
          <a:lstStyle/>
          <a:p>
            <a:pPr algn="l">
              <a:lnSpc>
                <a:spcPct val="120000"/>
              </a:lnSpc>
              <a:spcBef>
                <a:spcPts val="0"/>
              </a:spcBef>
            </a:pPr>
            <a:r>
              <a:rPr lang="es-PE" sz="1200" dirty="0">
                <a:solidFill>
                  <a:srgbClr val="9DB2B0"/>
                </a:solidFill>
                <a:latin typeface="Calibri"/>
                <a:cs typeface="Calibri"/>
              </a:rPr>
              <a:t>INTENSIDAD MAX: </a:t>
            </a:r>
            <a:r>
              <a:rPr lang="es-PE" sz="1200" b="0" spc="0" dirty="0">
                <a:solidFill>
                  <a:srgbClr val="9DB2B0"/>
                </a:solidFill>
                <a:latin typeface="Calibri"/>
                <a:cs typeface="Calibri"/>
              </a:rPr>
              <a:t>El dyno, el bloqueo, el crimp al máximo. Arranca al instante y se agota rapidísimo. Es el motor del intento.</a:t>
            </a:r>
          </a:p>
        </p:txBody>
      </p:sp>
      <p:sp>
        <p:nvSpPr>
          <p:cNvPr id="12" name="f12"/>
          <p:cNvSpPr/>
          <p:nvPr/>
        </p:nvSpPr>
        <p:spPr>
          <a:xfrm>
            <a:off x="685800" y="342900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13" name="f13"/>
          <p:cNvSpPr/>
          <p:nvPr/>
        </p:nvSpPr>
        <p:spPr>
          <a:xfrm>
            <a:off x="960120" y="3776472"/>
            <a:ext cx="1371600" cy="402336"/>
          </a:xfrm>
          <a:prstGeom prst="roundRect">
            <a:avLst>
              <a:gd name="adj" fmla="val 20000"/>
            </a:avLst>
          </a:prstGeom>
          <a:solidFill>
            <a:srgbClr val="FF5A36"/>
          </a:solidFill>
          <a:ln>
            <a:noFill/>
          </a:ln>
        </p:spPr>
        <p:txBody>
          <a:bodyPr/>
          <a:lstStyle/>
          <a:p>
            <a:endParaRPr lang="es-PE"/>
          </a:p>
        </p:txBody>
      </p:sp>
      <p:sp>
        <p:nvSpPr>
          <p:cNvPr id="14" name="t14"/>
          <p:cNvSpPr txBox="1"/>
          <p:nvPr/>
        </p:nvSpPr>
        <p:spPr>
          <a:xfrm>
            <a:off x="960120" y="3886200"/>
            <a:ext cx="1371600" cy="23774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FFFFFF"/>
                </a:solidFill>
                <a:latin typeface="Consolas"/>
                <a:cs typeface="Consolas"/>
              </a:rPr>
              <a:t>10 s – 2 min</a:t>
            </a:r>
          </a:p>
        </p:txBody>
      </p:sp>
      <p:sp>
        <p:nvSpPr>
          <p:cNvPr id="15" name="t15"/>
          <p:cNvSpPr txBox="1"/>
          <p:nvPr/>
        </p:nvSpPr>
        <p:spPr>
          <a:xfrm>
            <a:off x="2560320" y="3648456"/>
            <a:ext cx="8595360" cy="310896"/>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F5A36"/>
                </a:solidFill>
                <a:latin typeface="Arial Black"/>
                <a:cs typeface="Arial Black"/>
              </a:rPr>
              <a:t>EL INTERMEDIO · GLUCÓLISIS</a:t>
            </a:r>
          </a:p>
        </p:txBody>
      </p:sp>
      <p:sp>
        <p:nvSpPr>
          <p:cNvPr id="16" name="t16"/>
          <p:cNvSpPr txBox="1"/>
          <p:nvPr/>
        </p:nvSpPr>
        <p:spPr>
          <a:xfrm>
            <a:off x="2560320" y="4032504"/>
            <a:ext cx="8595360" cy="274320"/>
          </a:xfrm>
          <a:prstGeom prst="rect">
            <a:avLst/>
          </a:prstGeom>
          <a:noFill/>
        </p:spPr>
        <p:txBody>
          <a:bodyPr wrap="square" lIns="0" tIns="0" rIns="0" bIns="0" anchor="t">
            <a:normAutofit/>
          </a:bodyPr>
          <a:lstStyle/>
          <a:p>
            <a:pPr algn="l">
              <a:lnSpc>
                <a:spcPct val="120000"/>
              </a:lnSpc>
              <a:spcBef>
                <a:spcPts val="0"/>
              </a:spcBef>
            </a:pPr>
            <a:r>
              <a:rPr lang="es-PE" sz="1200" dirty="0">
                <a:solidFill>
                  <a:srgbClr val="9DB2B0"/>
                </a:solidFill>
                <a:latin typeface="Calibri"/>
                <a:cs typeface="Calibri"/>
              </a:rPr>
              <a:t>BLOQUE LARGO / TRAVESIA: Usa</a:t>
            </a:r>
            <a:r>
              <a:rPr lang="es-PE" sz="1200" b="0" spc="0" dirty="0">
                <a:solidFill>
                  <a:srgbClr val="9DB2B0"/>
                </a:solidFill>
                <a:latin typeface="Calibri"/>
                <a:cs typeface="Calibri"/>
              </a:rPr>
              <a:t> glucógeno y glucosa libre</a:t>
            </a:r>
            <a:r>
              <a:rPr lang="es-PE" sz="1200" dirty="0">
                <a:solidFill>
                  <a:srgbClr val="9DB2B0"/>
                </a:solidFill>
                <a:latin typeface="Calibri"/>
                <a:cs typeface="Calibri"/>
              </a:rPr>
              <a:t> </a:t>
            </a:r>
            <a:r>
              <a:rPr lang="es-PE" sz="1200" dirty="0">
                <a:solidFill>
                  <a:srgbClr val="9DB2B0"/>
                </a:solidFill>
                <a:latin typeface="Calibri"/>
                <a:cs typeface="Calibri"/>
                <a:sym typeface="Wingdings" panose="05000000000000000000" pitchFamily="2" charset="2"/>
              </a:rPr>
              <a:t> Carbohidratos</a:t>
            </a:r>
            <a:endParaRPr lang="es-PE" sz="1200" b="0" spc="0" dirty="0">
              <a:solidFill>
                <a:srgbClr val="9DB2B0"/>
              </a:solidFill>
              <a:latin typeface="Calibri"/>
              <a:cs typeface="Calibri"/>
            </a:endParaRPr>
          </a:p>
        </p:txBody>
      </p:sp>
      <p:sp>
        <p:nvSpPr>
          <p:cNvPr id="17" name="f17"/>
          <p:cNvSpPr/>
          <p:nvPr/>
        </p:nvSpPr>
        <p:spPr>
          <a:xfrm>
            <a:off x="685800" y="475488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18" name="f18"/>
          <p:cNvSpPr/>
          <p:nvPr/>
        </p:nvSpPr>
        <p:spPr>
          <a:xfrm>
            <a:off x="960120" y="5102352"/>
            <a:ext cx="1371600" cy="402336"/>
          </a:xfrm>
          <a:prstGeom prst="roundRect">
            <a:avLst>
              <a:gd name="adj" fmla="val 20000"/>
            </a:avLst>
          </a:prstGeom>
          <a:solidFill>
            <a:srgbClr val="3FC1C9"/>
          </a:solidFill>
          <a:ln>
            <a:noFill/>
          </a:ln>
        </p:spPr>
        <p:txBody>
          <a:bodyPr/>
          <a:lstStyle/>
          <a:p>
            <a:endParaRPr lang="es-PE"/>
          </a:p>
        </p:txBody>
      </p:sp>
      <p:sp>
        <p:nvSpPr>
          <p:cNvPr id="19" name="t19"/>
          <p:cNvSpPr txBox="1"/>
          <p:nvPr/>
        </p:nvSpPr>
        <p:spPr>
          <a:xfrm>
            <a:off x="960120" y="5123000"/>
            <a:ext cx="1371600" cy="42062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0A1013"/>
                </a:solidFill>
                <a:latin typeface="Consolas"/>
                <a:cs typeface="Consolas"/>
              </a:rPr>
              <a:t>todo el rato</a:t>
            </a:r>
          </a:p>
          <a:p>
            <a:pPr algn="ctr">
              <a:lnSpc>
                <a:spcPct val="100000"/>
              </a:lnSpc>
              <a:spcBef>
                <a:spcPts val="0"/>
              </a:spcBef>
            </a:pPr>
            <a:r>
              <a:rPr lang="es-PE" sz="1000" b="1" dirty="0">
                <a:solidFill>
                  <a:srgbClr val="0A1013"/>
                </a:solidFill>
                <a:latin typeface="Consolas"/>
                <a:cs typeface="Consolas"/>
              </a:rPr>
              <a:t>BAJA INTENSIDAD</a:t>
            </a:r>
            <a:endParaRPr lang="es-PE" sz="1000" b="1" spc="0" dirty="0">
              <a:solidFill>
                <a:srgbClr val="0A1013"/>
              </a:solidFill>
              <a:latin typeface="Consolas"/>
              <a:cs typeface="Consolas"/>
            </a:endParaRPr>
          </a:p>
        </p:txBody>
      </p:sp>
      <p:sp>
        <p:nvSpPr>
          <p:cNvPr id="20" name="t20"/>
          <p:cNvSpPr txBox="1"/>
          <p:nvPr/>
        </p:nvSpPr>
        <p:spPr>
          <a:xfrm>
            <a:off x="2560320" y="4974336"/>
            <a:ext cx="8595360" cy="310896"/>
          </a:xfrm>
          <a:prstGeom prst="rect">
            <a:avLst/>
          </a:prstGeom>
          <a:noFill/>
        </p:spPr>
        <p:txBody>
          <a:bodyPr wrap="square" lIns="0" tIns="0" rIns="0" bIns="0" anchor="t">
            <a:normAutofit/>
          </a:bodyPr>
          <a:lstStyle/>
          <a:p>
            <a:pPr algn="l">
              <a:lnSpc>
                <a:spcPct val="100000"/>
              </a:lnSpc>
              <a:spcBef>
                <a:spcPts val="0"/>
              </a:spcBef>
            </a:pPr>
            <a:r>
              <a:rPr lang="es-ES" sz="1250" b="1" dirty="0">
                <a:solidFill>
                  <a:srgbClr val="3FC1C9"/>
                </a:solidFill>
                <a:latin typeface="Arial Black"/>
                <a:cs typeface="Arial Black"/>
              </a:rPr>
              <a:t>O</a:t>
            </a:r>
            <a:r>
              <a:rPr lang="es-PE" sz="1250" b="1" dirty="0">
                <a:solidFill>
                  <a:srgbClr val="3FC1C9"/>
                </a:solidFill>
                <a:latin typeface="Arial Black"/>
                <a:cs typeface="Arial Black"/>
              </a:rPr>
              <a:t>XIDATIVO – OXIDACIÓN DE GRASAS</a:t>
            </a:r>
            <a:endParaRPr lang="es-PE" sz="1250" b="1" spc="0" dirty="0">
              <a:solidFill>
                <a:srgbClr val="3FC1C9"/>
              </a:solidFill>
              <a:latin typeface="Arial Black"/>
              <a:cs typeface="Arial Black"/>
            </a:endParaRPr>
          </a:p>
        </p:txBody>
      </p:sp>
      <p:sp>
        <p:nvSpPr>
          <p:cNvPr id="21" name="t21"/>
          <p:cNvSpPr txBox="1"/>
          <p:nvPr/>
        </p:nvSpPr>
        <p:spPr>
          <a:xfrm>
            <a:off x="2560319" y="5348552"/>
            <a:ext cx="8915401" cy="420624"/>
          </a:xfrm>
          <a:prstGeom prst="rect">
            <a:avLst/>
          </a:prstGeom>
          <a:noFill/>
        </p:spPr>
        <p:txBody>
          <a:bodyPr wrap="square" lIns="0" tIns="0" rIns="0" bIns="0" anchor="t">
            <a:normAutofit lnSpcReduction="10000"/>
          </a:bodyPr>
          <a:lstStyle/>
          <a:p>
            <a:pPr algn="l">
              <a:lnSpc>
                <a:spcPct val="120000"/>
              </a:lnSpc>
              <a:spcBef>
                <a:spcPts val="0"/>
              </a:spcBef>
            </a:pPr>
            <a:r>
              <a:rPr lang="es-PE" sz="1200" b="0" spc="0" dirty="0">
                <a:solidFill>
                  <a:srgbClr val="9DB2B0"/>
                </a:solidFill>
                <a:latin typeface="Calibri"/>
                <a:cs typeface="Calibri"/>
              </a:rPr>
              <a:t>BAJA INTENSIDAD: No te mueve en el bloque. Funciona mientras recargas los otros dos, mientras descansas entre intentos y durante tus actividades cotidianas</a:t>
            </a:r>
          </a:p>
          <a:p>
            <a:pPr algn="l">
              <a:lnSpc>
                <a:spcPct val="120000"/>
              </a:lnSpc>
              <a:spcBef>
                <a:spcPts val="0"/>
              </a:spcBef>
            </a:pPr>
            <a:endParaRPr lang="es-PE" sz="1200" b="0" spc="0" dirty="0">
              <a:solidFill>
                <a:srgbClr val="9DB2B0"/>
              </a:solidFill>
              <a:latin typeface="Calibri"/>
              <a:cs typeface="Calibri"/>
            </a:endParaRPr>
          </a:p>
        </p:txBody>
      </p:sp>
      <p:sp>
        <p:nvSpPr>
          <p:cNvPr id="22" name="t22"/>
          <p:cNvSpPr txBox="1"/>
          <p:nvPr/>
        </p:nvSpPr>
        <p:spPr>
          <a:xfrm>
            <a:off x="685800" y="6172200"/>
            <a:ext cx="10789920" cy="32004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6B8286"/>
                </a:solidFill>
                <a:latin typeface="Consolas"/>
                <a:cs typeface="Consolas"/>
              </a:rPr>
              <a:t>El que se recupera rápido no siempre es el más fuerte: es el que tiene el tercer motor bien alimentado.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1143000"/>
            <a:ext cx="5029200" cy="1828800"/>
          </a:xfrm>
          <a:prstGeom prst="rect">
            <a:avLst/>
          </a:prstGeom>
          <a:noFill/>
        </p:spPr>
        <p:txBody>
          <a:bodyPr wrap="square" lIns="0" tIns="0" rIns="0" bIns="0" anchor="t">
            <a:normAutofit/>
          </a:bodyPr>
          <a:lstStyle/>
          <a:p>
            <a:pPr algn="l">
              <a:lnSpc>
                <a:spcPct val="92000"/>
              </a:lnSpc>
              <a:spcBef>
                <a:spcPts val="0"/>
              </a:spcBef>
            </a:pPr>
            <a:r>
              <a:rPr lang="es-PE" sz="4000" b="1" spc="0" dirty="0">
                <a:solidFill>
                  <a:srgbClr val="FFC93C"/>
                </a:solidFill>
                <a:latin typeface="Arial Black"/>
                <a:cs typeface="Arial Black"/>
              </a:rPr>
              <a:t>GLUCÓGENO</a:t>
            </a:r>
          </a:p>
        </p:txBody>
      </p:sp>
      <p:sp>
        <p:nvSpPr>
          <p:cNvPr id="7" name="t7"/>
          <p:cNvSpPr txBox="1"/>
          <p:nvPr/>
        </p:nvSpPr>
        <p:spPr>
          <a:xfrm>
            <a:off x="662940" y="2148349"/>
            <a:ext cx="4937760" cy="2194560"/>
          </a:xfrm>
          <a:prstGeom prst="rect">
            <a:avLst/>
          </a:prstGeom>
          <a:noFill/>
        </p:spPr>
        <p:txBody>
          <a:bodyPr wrap="square" lIns="0" tIns="0" rIns="0" bIns="0" anchor="t">
            <a:normAutofit/>
          </a:bodyPr>
          <a:lstStyle/>
          <a:p>
            <a:pPr algn="l">
              <a:lnSpc>
                <a:spcPct val="125000"/>
              </a:lnSpc>
              <a:spcBef>
                <a:spcPts val="0"/>
              </a:spcBef>
            </a:pPr>
            <a:r>
              <a:rPr lang="es-PE" sz="1550" b="0" spc="0" dirty="0">
                <a:solidFill>
                  <a:srgbClr val="9DB2B0"/>
                </a:solidFill>
                <a:latin typeface="Calibri"/>
                <a:cs typeface="Calibri"/>
              </a:rPr>
              <a:t>Es el azúcar guardado en tus músculos e hígado. Es la  gasolina a la que tu cuerpo tiene acceso</a:t>
            </a:r>
            <a:r>
              <a:rPr lang="es-PE" sz="1550" dirty="0">
                <a:solidFill>
                  <a:srgbClr val="9DB2B0"/>
                </a:solidFill>
                <a:latin typeface="Calibri"/>
                <a:cs typeface="Calibri"/>
              </a:rPr>
              <a:t> de forma</a:t>
            </a:r>
            <a:r>
              <a:rPr lang="es-PE" sz="1550" b="0" spc="0" dirty="0">
                <a:solidFill>
                  <a:srgbClr val="9DB2B0"/>
                </a:solidFill>
                <a:latin typeface="Calibri"/>
                <a:cs typeface="Calibri"/>
              </a:rPr>
              <a:t> rápida, inmediata y que comparte un espacio grande con la creatina</a:t>
            </a:r>
            <a:r>
              <a:rPr lang="es-PE" sz="1550" dirty="0">
                <a:solidFill>
                  <a:srgbClr val="9DB2B0"/>
                </a:solidFill>
                <a:latin typeface="Calibri"/>
                <a:cs typeface="Calibri"/>
              </a:rPr>
              <a:t>.</a:t>
            </a:r>
            <a:r>
              <a:rPr lang="es-PE" sz="1550" b="0" spc="0" dirty="0">
                <a:solidFill>
                  <a:srgbClr val="9DB2B0"/>
                </a:solidFill>
                <a:latin typeface="Calibri"/>
                <a:cs typeface="Calibri"/>
              </a:rPr>
              <a:t> </a:t>
            </a:r>
            <a:r>
              <a:rPr lang="es-PE" sz="1550" dirty="0">
                <a:solidFill>
                  <a:srgbClr val="9DB2B0"/>
                </a:solidFill>
                <a:latin typeface="Calibri"/>
                <a:cs typeface="Calibri"/>
              </a:rPr>
              <a:t>E</a:t>
            </a:r>
            <a:r>
              <a:rPr lang="es-PE" sz="1550" b="0" spc="0" dirty="0">
                <a:solidFill>
                  <a:srgbClr val="9DB2B0"/>
                </a:solidFill>
                <a:latin typeface="Calibri"/>
                <a:cs typeface="Calibri"/>
              </a:rPr>
              <a:t>l Boulder es generalmente esfuerzo rápido de alta intensidad</a:t>
            </a:r>
          </a:p>
        </p:txBody>
      </p:sp>
      <p:sp>
        <p:nvSpPr>
          <p:cNvPr id="8" name="f8"/>
          <p:cNvSpPr/>
          <p:nvPr/>
        </p:nvSpPr>
        <p:spPr>
          <a:xfrm>
            <a:off x="6263640" y="1143000"/>
            <a:ext cx="52120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9" name="t9"/>
          <p:cNvSpPr txBox="1"/>
          <p:nvPr/>
        </p:nvSpPr>
        <p:spPr>
          <a:xfrm>
            <a:off x="6629400" y="1554480"/>
            <a:ext cx="4480560" cy="3840480"/>
          </a:xfrm>
          <a:prstGeom prst="rect">
            <a:avLst/>
          </a:prstGeom>
          <a:noFill/>
        </p:spPr>
        <p:txBody>
          <a:bodyPr wrap="square" lIns="0" tIns="0" rIns="0" bIns="0" anchor="ctr">
            <a:normAutofit/>
          </a:bodyPr>
          <a:lstStyle/>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Se llena con carbohidratos: arroz, pan, papa, camote, avena, fruta, fideos, cereales, etc.</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Te alcanza para 60 a 90 minutos de escalada intensa.</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Cuando se vacía se te va el agarre, la coordinación y la paciencia.</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Se recarga comiendo carbohidratos en las cantidades adecuadas. No hay otra forma.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68580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DOS ESCALADORES, EL MISMO PROYECTO</a:t>
            </a:r>
          </a:p>
        </p:txBody>
      </p:sp>
      <p:sp>
        <p:nvSpPr>
          <p:cNvPr id="7" name="f7"/>
          <p:cNvSpPr/>
          <p:nvPr/>
        </p:nvSpPr>
        <p:spPr>
          <a:xfrm>
            <a:off x="868680" y="2057400"/>
            <a:ext cx="658368" cy="2834640"/>
          </a:xfrm>
          <a:prstGeom prst="rect">
            <a:avLst/>
          </a:prstGeom>
          <a:solidFill>
            <a:srgbClr val="4ADE80"/>
          </a:solidFill>
          <a:ln>
            <a:noFill/>
          </a:ln>
        </p:spPr>
        <p:txBody>
          <a:bodyPr/>
          <a:lstStyle/>
          <a:p>
            <a:endParaRPr lang="es-PE"/>
          </a:p>
        </p:txBody>
      </p:sp>
      <p:sp>
        <p:nvSpPr>
          <p:cNvPr id="8" name="f8"/>
          <p:cNvSpPr/>
          <p:nvPr/>
        </p:nvSpPr>
        <p:spPr>
          <a:xfrm>
            <a:off x="1645920" y="2057400"/>
            <a:ext cx="658368" cy="2834640"/>
          </a:xfrm>
          <a:prstGeom prst="rect">
            <a:avLst/>
          </a:prstGeom>
          <a:solidFill>
            <a:srgbClr val="FF4D5E"/>
          </a:solidFill>
          <a:ln>
            <a:noFill/>
          </a:ln>
        </p:spPr>
        <p:txBody>
          <a:bodyPr/>
          <a:lstStyle/>
          <a:p>
            <a:endParaRPr lang="es-PE"/>
          </a:p>
        </p:txBody>
      </p:sp>
      <p:sp>
        <p:nvSpPr>
          <p:cNvPr id="9" name="t9"/>
          <p:cNvSpPr txBox="1"/>
          <p:nvPr/>
        </p:nvSpPr>
        <p:spPr>
          <a:xfrm>
            <a:off x="8686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1</a:t>
            </a:r>
          </a:p>
        </p:txBody>
      </p:sp>
      <p:sp>
        <p:nvSpPr>
          <p:cNvPr id="10" name="f10"/>
          <p:cNvSpPr/>
          <p:nvPr/>
        </p:nvSpPr>
        <p:spPr>
          <a:xfrm>
            <a:off x="2697480" y="2085746"/>
            <a:ext cx="658368" cy="2806294"/>
          </a:xfrm>
          <a:prstGeom prst="rect">
            <a:avLst/>
          </a:prstGeom>
          <a:solidFill>
            <a:srgbClr val="4ADE80"/>
          </a:solidFill>
          <a:ln>
            <a:noFill/>
          </a:ln>
        </p:spPr>
        <p:txBody>
          <a:bodyPr/>
          <a:lstStyle/>
          <a:p>
            <a:endParaRPr lang="es-PE"/>
          </a:p>
        </p:txBody>
      </p:sp>
      <p:sp>
        <p:nvSpPr>
          <p:cNvPr id="11" name="f11"/>
          <p:cNvSpPr/>
          <p:nvPr/>
        </p:nvSpPr>
        <p:spPr>
          <a:xfrm>
            <a:off x="3474720" y="2199132"/>
            <a:ext cx="658368" cy="2692908"/>
          </a:xfrm>
          <a:prstGeom prst="rect">
            <a:avLst/>
          </a:prstGeom>
          <a:solidFill>
            <a:srgbClr val="FF4D5E"/>
          </a:solidFill>
          <a:ln>
            <a:noFill/>
          </a:ln>
        </p:spPr>
        <p:txBody>
          <a:bodyPr/>
          <a:lstStyle/>
          <a:p>
            <a:endParaRPr lang="es-PE"/>
          </a:p>
        </p:txBody>
      </p:sp>
      <p:sp>
        <p:nvSpPr>
          <p:cNvPr id="12" name="t12"/>
          <p:cNvSpPr txBox="1"/>
          <p:nvPr/>
        </p:nvSpPr>
        <p:spPr>
          <a:xfrm>
            <a:off x="26974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2</a:t>
            </a:r>
          </a:p>
        </p:txBody>
      </p:sp>
      <p:sp>
        <p:nvSpPr>
          <p:cNvPr id="13" name="f13"/>
          <p:cNvSpPr/>
          <p:nvPr/>
        </p:nvSpPr>
        <p:spPr>
          <a:xfrm>
            <a:off x="4526280" y="2170786"/>
            <a:ext cx="658368" cy="2721254"/>
          </a:xfrm>
          <a:prstGeom prst="rect">
            <a:avLst/>
          </a:prstGeom>
          <a:solidFill>
            <a:srgbClr val="4ADE80"/>
          </a:solidFill>
          <a:ln>
            <a:noFill/>
          </a:ln>
        </p:spPr>
        <p:txBody>
          <a:bodyPr/>
          <a:lstStyle/>
          <a:p>
            <a:endParaRPr lang="es-PE"/>
          </a:p>
        </p:txBody>
      </p:sp>
      <p:sp>
        <p:nvSpPr>
          <p:cNvPr id="14" name="f14"/>
          <p:cNvSpPr/>
          <p:nvPr/>
        </p:nvSpPr>
        <p:spPr>
          <a:xfrm>
            <a:off x="5303520" y="2510942"/>
            <a:ext cx="658368" cy="2381098"/>
          </a:xfrm>
          <a:prstGeom prst="rect">
            <a:avLst/>
          </a:prstGeom>
          <a:solidFill>
            <a:srgbClr val="FF4D5E"/>
          </a:solidFill>
          <a:ln>
            <a:noFill/>
          </a:ln>
        </p:spPr>
        <p:txBody>
          <a:bodyPr/>
          <a:lstStyle/>
          <a:p>
            <a:endParaRPr lang="es-PE"/>
          </a:p>
        </p:txBody>
      </p:sp>
      <p:sp>
        <p:nvSpPr>
          <p:cNvPr id="15" name="t15"/>
          <p:cNvSpPr txBox="1"/>
          <p:nvPr/>
        </p:nvSpPr>
        <p:spPr>
          <a:xfrm>
            <a:off x="45262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3</a:t>
            </a:r>
          </a:p>
        </p:txBody>
      </p:sp>
      <p:sp>
        <p:nvSpPr>
          <p:cNvPr id="16" name="f16"/>
          <p:cNvSpPr/>
          <p:nvPr/>
        </p:nvSpPr>
        <p:spPr>
          <a:xfrm>
            <a:off x="6355080" y="2255825"/>
            <a:ext cx="658368" cy="2636215"/>
          </a:xfrm>
          <a:prstGeom prst="rect">
            <a:avLst/>
          </a:prstGeom>
          <a:solidFill>
            <a:srgbClr val="4ADE80"/>
          </a:solidFill>
          <a:ln>
            <a:noFill/>
          </a:ln>
        </p:spPr>
        <p:txBody>
          <a:bodyPr/>
          <a:lstStyle/>
          <a:p>
            <a:endParaRPr lang="es-PE"/>
          </a:p>
        </p:txBody>
      </p:sp>
      <p:sp>
        <p:nvSpPr>
          <p:cNvPr id="17" name="f17"/>
          <p:cNvSpPr/>
          <p:nvPr/>
        </p:nvSpPr>
        <p:spPr>
          <a:xfrm>
            <a:off x="7132320" y="3134563"/>
            <a:ext cx="658368" cy="1757477"/>
          </a:xfrm>
          <a:prstGeom prst="rect">
            <a:avLst/>
          </a:prstGeom>
          <a:solidFill>
            <a:srgbClr val="FF4D5E"/>
          </a:solidFill>
          <a:ln>
            <a:noFill/>
          </a:ln>
        </p:spPr>
        <p:txBody>
          <a:bodyPr/>
          <a:lstStyle/>
          <a:p>
            <a:endParaRPr lang="es-PE"/>
          </a:p>
        </p:txBody>
      </p:sp>
      <p:sp>
        <p:nvSpPr>
          <p:cNvPr id="18" name="t18"/>
          <p:cNvSpPr txBox="1"/>
          <p:nvPr/>
        </p:nvSpPr>
        <p:spPr>
          <a:xfrm>
            <a:off x="63550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4</a:t>
            </a:r>
          </a:p>
        </p:txBody>
      </p:sp>
      <p:sp>
        <p:nvSpPr>
          <p:cNvPr id="19" name="f19"/>
          <p:cNvSpPr/>
          <p:nvPr/>
        </p:nvSpPr>
        <p:spPr>
          <a:xfrm>
            <a:off x="8183880" y="2397557"/>
            <a:ext cx="658368" cy="2494483"/>
          </a:xfrm>
          <a:prstGeom prst="rect">
            <a:avLst/>
          </a:prstGeom>
          <a:solidFill>
            <a:srgbClr val="4ADE80"/>
          </a:solidFill>
          <a:ln>
            <a:noFill/>
          </a:ln>
        </p:spPr>
        <p:txBody>
          <a:bodyPr/>
          <a:lstStyle/>
          <a:p>
            <a:endParaRPr lang="es-PE"/>
          </a:p>
        </p:txBody>
      </p:sp>
      <p:sp>
        <p:nvSpPr>
          <p:cNvPr id="20" name="f20"/>
          <p:cNvSpPr/>
          <p:nvPr/>
        </p:nvSpPr>
        <p:spPr>
          <a:xfrm>
            <a:off x="8961120" y="3729838"/>
            <a:ext cx="658368" cy="1162202"/>
          </a:xfrm>
          <a:prstGeom prst="rect">
            <a:avLst/>
          </a:prstGeom>
          <a:solidFill>
            <a:srgbClr val="FF4D5E"/>
          </a:solidFill>
          <a:ln>
            <a:noFill/>
          </a:ln>
        </p:spPr>
        <p:txBody>
          <a:bodyPr/>
          <a:lstStyle/>
          <a:p>
            <a:endParaRPr lang="es-PE"/>
          </a:p>
        </p:txBody>
      </p:sp>
      <p:sp>
        <p:nvSpPr>
          <p:cNvPr id="21" name="t21"/>
          <p:cNvSpPr txBox="1"/>
          <p:nvPr/>
        </p:nvSpPr>
        <p:spPr>
          <a:xfrm>
            <a:off x="81838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5</a:t>
            </a:r>
          </a:p>
        </p:txBody>
      </p:sp>
      <p:sp>
        <p:nvSpPr>
          <p:cNvPr id="22" name="f22"/>
          <p:cNvSpPr/>
          <p:nvPr/>
        </p:nvSpPr>
        <p:spPr>
          <a:xfrm>
            <a:off x="10012680" y="2510942"/>
            <a:ext cx="658368" cy="2381098"/>
          </a:xfrm>
          <a:prstGeom prst="rect">
            <a:avLst/>
          </a:prstGeom>
          <a:solidFill>
            <a:srgbClr val="4ADE80"/>
          </a:solidFill>
          <a:ln>
            <a:noFill/>
          </a:ln>
        </p:spPr>
        <p:txBody>
          <a:bodyPr/>
          <a:lstStyle/>
          <a:p>
            <a:endParaRPr lang="es-PE"/>
          </a:p>
        </p:txBody>
      </p:sp>
      <p:sp>
        <p:nvSpPr>
          <p:cNvPr id="23" name="f23"/>
          <p:cNvSpPr/>
          <p:nvPr/>
        </p:nvSpPr>
        <p:spPr>
          <a:xfrm>
            <a:off x="10789920" y="4126687"/>
            <a:ext cx="658368" cy="765353"/>
          </a:xfrm>
          <a:prstGeom prst="rect">
            <a:avLst/>
          </a:prstGeom>
          <a:solidFill>
            <a:srgbClr val="FF4D5E"/>
          </a:solidFill>
          <a:ln>
            <a:noFill/>
          </a:ln>
        </p:spPr>
        <p:txBody>
          <a:bodyPr/>
          <a:lstStyle/>
          <a:p>
            <a:endParaRPr lang="es-PE"/>
          </a:p>
        </p:txBody>
      </p:sp>
      <p:sp>
        <p:nvSpPr>
          <p:cNvPr id="24" name="t24"/>
          <p:cNvSpPr txBox="1"/>
          <p:nvPr/>
        </p:nvSpPr>
        <p:spPr>
          <a:xfrm>
            <a:off x="100126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6</a:t>
            </a:r>
          </a:p>
        </p:txBody>
      </p:sp>
      <p:sp>
        <p:nvSpPr>
          <p:cNvPr id="25" name="f25"/>
          <p:cNvSpPr/>
          <p:nvPr/>
        </p:nvSpPr>
        <p:spPr>
          <a:xfrm>
            <a:off x="685800" y="4892040"/>
            <a:ext cx="10789920" cy="18288"/>
          </a:xfrm>
          <a:prstGeom prst="rect">
            <a:avLst/>
          </a:prstGeom>
          <a:solidFill>
            <a:srgbClr val="2B4149"/>
          </a:solidFill>
          <a:ln>
            <a:noFill/>
          </a:ln>
        </p:spPr>
        <p:txBody>
          <a:bodyPr/>
          <a:lstStyle/>
          <a:p>
            <a:endParaRPr lang="es-PE"/>
          </a:p>
        </p:txBody>
      </p:sp>
      <p:sp>
        <p:nvSpPr>
          <p:cNvPr id="26" name="f26"/>
          <p:cNvSpPr/>
          <p:nvPr/>
        </p:nvSpPr>
        <p:spPr>
          <a:xfrm>
            <a:off x="713232" y="5532120"/>
            <a:ext cx="201168" cy="201168"/>
          </a:xfrm>
          <a:prstGeom prst="rect">
            <a:avLst/>
          </a:prstGeom>
          <a:solidFill>
            <a:srgbClr val="4ADE80"/>
          </a:solidFill>
          <a:ln>
            <a:noFill/>
          </a:ln>
        </p:spPr>
        <p:txBody>
          <a:bodyPr/>
          <a:lstStyle/>
          <a:p>
            <a:endParaRPr lang="es-PE"/>
          </a:p>
        </p:txBody>
      </p:sp>
      <p:sp>
        <p:nvSpPr>
          <p:cNvPr id="27" name="t27"/>
          <p:cNvSpPr txBox="1"/>
          <p:nvPr/>
        </p:nvSpPr>
        <p:spPr>
          <a:xfrm>
            <a:off x="1024128" y="5532120"/>
            <a:ext cx="384048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9DB2B0"/>
                </a:solidFill>
                <a:latin typeface="Calibri"/>
                <a:cs typeface="Calibri"/>
              </a:rPr>
              <a:t>Comió bien antes de entrenar</a:t>
            </a:r>
          </a:p>
        </p:txBody>
      </p:sp>
      <p:sp>
        <p:nvSpPr>
          <p:cNvPr id="28" name="f28"/>
          <p:cNvSpPr/>
          <p:nvPr/>
        </p:nvSpPr>
        <p:spPr>
          <a:xfrm>
            <a:off x="4846320" y="5532120"/>
            <a:ext cx="201168" cy="201168"/>
          </a:xfrm>
          <a:prstGeom prst="rect">
            <a:avLst/>
          </a:prstGeom>
          <a:solidFill>
            <a:srgbClr val="FF4D5E"/>
          </a:solidFill>
          <a:ln>
            <a:noFill/>
          </a:ln>
        </p:spPr>
        <p:txBody>
          <a:bodyPr/>
          <a:lstStyle/>
          <a:p>
            <a:endParaRPr lang="es-PE"/>
          </a:p>
        </p:txBody>
      </p:sp>
      <p:sp>
        <p:nvSpPr>
          <p:cNvPr id="29" name="t29"/>
          <p:cNvSpPr txBox="1"/>
          <p:nvPr/>
        </p:nvSpPr>
        <p:spPr>
          <a:xfrm>
            <a:off x="5157216" y="5532120"/>
            <a:ext cx="384048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9DB2B0"/>
                </a:solidFill>
                <a:latin typeface="Calibri"/>
                <a:cs typeface="Calibri"/>
              </a:rPr>
              <a:t>Vino con el tanque vacío</a:t>
            </a:r>
          </a:p>
        </p:txBody>
      </p:sp>
      <p:sp>
        <p:nvSpPr>
          <p:cNvPr id="30" name="t30"/>
          <p:cNvSpPr txBox="1"/>
          <p:nvPr/>
        </p:nvSpPr>
        <p:spPr>
          <a:xfrm>
            <a:off x="685800" y="6053328"/>
            <a:ext cx="10789920" cy="548640"/>
          </a:xfrm>
          <a:prstGeom prst="rect">
            <a:avLst/>
          </a:prstGeom>
          <a:noFill/>
        </p:spPr>
        <p:txBody>
          <a:bodyPr wrap="square" lIns="0" tIns="0" rIns="0" bIns="0" anchor="t">
            <a:normAutofit/>
          </a:bodyPr>
          <a:lstStyle/>
          <a:p>
            <a:pPr algn="l">
              <a:lnSpc>
                <a:spcPct val="100000"/>
              </a:lnSpc>
              <a:spcBef>
                <a:spcPts val="0"/>
              </a:spcBef>
            </a:pPr>
            <a:r>
              <a:rPr lang="es-PE" sz="1400" b="0" spc="0" dirty="0">
                <a:solidFill>
                  <a:srgbClr val="F2F6F4"/>
                </a:solidFill>
                <a:latin typeface="Calibri"/>
                <a:cs typeface="Calibri"/>
              </a:rPr>
              <a:t>Los dos tienen la misma fuerza máxima. Solo uno la conserva hasta el intento donde el bloque cae.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ENCUESTA EN VIVO</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¿QUÉ COMISTE HOY ANTES DE VENIR?</a:t>
            </a:r>
          </a:p>
        </p:txBody>
      </p:sp>
      <p:sp>
        <p:nvSpPr>
          <p:cNvPr id="7" name="t7"/>
          <p:cNvSpPr txBox="1"/>
          <p:nvPr/>
        </p:nvSpPr>
        <p:spPr>
          <a:xfrm>
            <a:off x="685800" y="1828800"/>
            <a:ext cx="10789920" cy="365760"/>
          </a:xfrm>
          <a:prstGeom prst="rect">
            <a:avLst/>
          </a:prstGeom>
          <a:noFill/>
        </p:spPr>
        <p:txBody>
          <a:bodyPr wrap="square" lIns="0" tIns="0" rIns="0" bIns="0" anchor="t">
            <a:normAutofit/>
          </a:bodyPr>
          <a:lstStyle/>
          <a:p>
            <a:pPr algn="l">
              <a:lnSpc>
                <a:spcPct val="100000"/>
              </a:lnSpc>
              <a:spcBef>
                <a:spcPts val="0"/>
              </a:spcBef>
            </a:pPr>
            <a:r>
              <a:rPr lang="es-PE" sz="1500" b="0" spc="0" dirty="0">
                <a:solidFill>
                  <a:srgbClr val="9DB2B0"/>
                </a:solidFill>
                <a:latin typeface="Calibri"/>
                <a:cs typeface="Calibri"/>
              </a:rPr>
              <a:t>Levanta la mano. Contamos en voz alta.</a:t>
            </a:r>
          </a:p>
        </p:txBody>
      </p:sp>
      <p:sp>
        <p:nvSpPr>
          <p:cNvPr id="8" name="f8"/>
          <p:cNvSpPr/>
          <p:nvPr/>
        </p:nvSpPr>
        <p:spPr>
          <a:xfrm>
            <a:off x="685800" y="25146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9" name="t9"/>
          <p:cNvSpPr txBox="1"/>
          <p:nvPr/>
        </p:nvSpPr>
        <p:spPr>
          <a:xfrm>
            <a:off x="1097280" y="27157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Desayuno completo (avena, pan, huevo...)</a:t>
            </a:r>
          </a:p>
        </p:txBody>
      </p:sp>
      <p:sp>
        <p:nvSpPr>
          <p:cNvPr id="10" name="t10"/>
          <p:cNvSpPr txBox="1"/>
          <p:nvPr/>
        </p:nvSpPr>
        <p:spPr>
          <a:xfrm>
            <a:off x="9966960" y="26974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1" name="f11"/>
          <p:cNvSpPr/>
          <p:nvPr/>
        </p:nvSpPr>
        <p:spPr>
          <a:xfrm>
            <a:off x="685800" y="34290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2" name="t12"/>
          <p:cNvSpPr txBox="1"/>
          <p:nvPr/>
        </p:nvSpPr>
        <p:spPr>
          <a:xfrm>
            <a:off x="1097280" y="36301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Solo algo rápido: fruta, galleta, pan</a:t>
            </a:r>
          </a:p>
        </p:txBody>
      </p:sp>
      <p:sp>
        <p:nvSpPr>
          <p:cNvPr id="13" name="t13"/>
          <p:cNvSpPr txBox="1"/>
          <p:nvPr/>
        </p:nvSpPr>
        <p:spPr>
          <a:xfrm>
            <a:off x="9966960" y="36118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4" name="f14"/>
          <p:cNvSpPr/>
          <p:nvPr/>
        </p:nvSpPr>
        <p:spPr>
          <a:xfrm>
            <a:off x="685800" y="43434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5" name="t15"/>
          <p:cNvSpPr txBox="1"/>
          <p:nvPr/>
        </p:nvSpPr>
        <p:spPr>
          <a:xfrm>
            <a:off x="1097280" y="45445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Solo agua o un jugo</a:t>
            </a:r>
          </a:p>
        </p:txBody>
      </p:sp>
      <p:sp>
        <p:nvSpPr>
          <p:cNvPr id="16" name="t16"/>
          <p:cNvSpPr txBox="1"/>
          <p:nvPr/>
        </p:nvSpPr>
        <p:spPr>
          <a:xfrm>
            <a:off x="9966960" y="45262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7" name="f17"/>
          <p:cNvSpPr/>
          <p:nvPr/>
        </p:nvSpPr>
        <p:spPr>
          <a:xfrm>
            <a:off x="685800" y="52578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8" name="t18"/>
          <p:cNvSpPr txBox="1"/>
          <p:nvPr/>
        </p:nvSpPr>
        <p:spPr>
          <a:xfrm>
            <a:off x="1097280" y="54589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Nada. Vine directo del colegio.</a:t>
            </a:r>
          </a:p>
        </p:txBody>
      </p:sp>
      <p:sp>
        <p:nvSpPr>
          <p:cNvPr id="19" name="t19"/>
          <p:cNvSpPr txBox="1"/>
          <p:nvPr/>
        </p:nvSpPr>
        <p:spPr>
          <a:xfrm>
            <a:off x="9966960" y="54406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2 · ANTES DE ESCALAR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V2</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600" b="1" spc="0" dirty="0">
                <a:solidFill>
                  <a:srgbClr val="FFC93C"/>
                </a:solidFill>
                <a:latin typeface="Arial Black"/>
                <a:cs typeface="Arial Black"/>
              </a:rPr>
              <a:t>LA REGLA 3 · 1 · 0</a:t>
            </a:r>
          </a:p>
        </p:txBody>
      </p:sp>
      <p:sp>
        <p:nvSpPr>
          <p:cNvPr id="7" name="f7"/>
          <p:cNvSpPr/>
          <p:nvPr/>
        </p:nvSpPr>
        <p:spPr>
          <a:xfrm>
            <a:off x="685800"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8" name="t8"/>
          <p:cNvSpPr txBox="1"/>
          <p:nvPr/>
        </p:nvSpPr>
        <p:spPr>
          <a:xfrm>
            <a:off x="941832"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3 HORAS ANTES</a:t>
            </a:r>
          </a:p>
        </p:txBody>
      </p:sp>
      <p:sp>
        <p:nvSpPr>
          <p:cNvPr id="9" name="t9"/>
          <p:cNvSpPr txBox="1"/>
          <p:nvPr/>
        </p:nvSpPr>
        <p:spPr>
          <a:xfrm>
            <a:off x="941832"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Comida completa: carbohidrato + proteína + verdura. Arroz con pollo, tallarín con carne, menestra con arroz.</a:t>
            </a:r>
          </a:p>
        </p:txBody>
      </p:sp>
      <p:sp>
        <p:nvSpPr>
          <p:cNvPr id="10" name="f10"/>
          <p:cNvSpPr/>
          <p:nvPr/>
        </p:nvSpPr>
        <p:spPr>
          <a:xfrm>
            <a:off x="4370832"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11" name="t11"/>
          <p:cNvSpPr txBox="1"/>
          <p:nvPr/>
        </p:nvSpPr>
        <p:spPr>
          <a:xfrm>
            <a:off x="4626864"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1 HORA ANTES</a:t>
            </a:r>
          </a:p>
        </p:txBody>
      </p:sp>
      <p:sp>
        <p:nvSpPr>
          <p:cNvPr id="12" name="t12"/>
          <p:cNvSpPr txBox="1"/>
          <p:nvPr/>
        </p:nvSpPr>
        <p:spPr>
          <a:xfrm>
            <a:off x="4626864"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Snack fácil de digerir, sobre todo carbohidrato. Plátano, pan con miel</a:t>
            </a:r>
            <a:r>
              <a:rPr lang="es-PE" sz="1200" dirty="0">
                <a:solidFill>
                  <a:srgbClr val="9DB2B0"/>
                </a:solidFill>
                <a:latin typeface="Calibri"/>
                <a:cs typeface="Calibri"/>
              </a:rPr>
              <a:t> o mermelada, jugo de naranja o alguna fruta. </a:t>
            </a:r>
            <a:endParaRPr lang="es-PE" sz="1200" b="0" spc="0" dirty="0">
              <a:solidFill>
                <a:srgbClr val="9DB2B0"/>
              </a:solidFill>
              <a:latin typeface="Calibri"/>
              <a:cs typeface="Calibri"/>
            </a:endParaRPr>
          </a:p>
        </p:txBody>
      </p:sp>
      <p:sp>
        <p:nvSpPr>
          <p:cNvPr id="13" name="f13"/>
          <p:cNvSpPr/>
          <p:nvPr/>
        </p:nvSpPr>
        <p:spPr>
          <a:xfrm>
            <a:off x="8055864"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14" name="t14"/>
          <p:cNvSpPr txBox="1"/>
          <p:nvPr/>
        </p:nvSpPr>
        <p:spPr>
          <a:xfrm>
            <a:off x="8311896"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0 MINUTOS ANTES - DURANTE</a:t>
            </a:r>
          </a:p>
        </p:txBody>
      </p:sp>
      <p:sp>
        <p:nvSpPr>
          <p:cNvPr id="15" name="t15"/>
          <p:cNvSpPr txBox="1"/>
          <p:nvPr/>
        </p:nvSpPr>
        <p:spPr>
          <a:xfrm>
            <a:off x="8311896"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Agua en sorbos pequeños, puede ser con electrolitos si hace calor. Puede también agregarse alguna fuente de carbohidratos sin  fibra y sin grasa si el entrenamiento va a ser intenso.</a:t>
            </a:r>
          </a:p>
        </p:txBody>
      </p:sp>
      <p:sp>
        <p:nvSpPr>
          <p:cNvPr id="16" name="t16"/>
          <p:cNvSpPr txBox="1"/>
          <p:nvPr/>
        </p:nvSpPr>
        <p:spPr>
          <a:xfrm>
            <a:off x="685800" y="5120640"/>
            <a:ext cx="10789920" cy="548640"/>
          </a:xfrm>
          <a:prstGeom prst="rect">
            <a:avLst/>
          </a:prstGeom>
          <a:noFill/>
        </p:spPr>
        <p:txBody>
          <a:bodyPr wrap="square" lIns="0" tIns="0" rIns="0" bIns="0" anchor="t">
            <a:normAutofit/>
          </a:bodyPr>
          <a:lstStyle/>
          <a:p>
            <a:pPr algn="l">
              <a:lnSpc>
                <a:spcPct val="100000"/>
              </a:lnSpc>
              <a:spcBef>
                <a:spcPts val="0"/>
              </a:spcBef>
            </a:pPr>
            <a:r>
              <a:rPr lang="es-PE" sz="1350" b="0" spc="0" dirty="0">
                <a:solidFill>
                  <a:srgbClr val="9DB2B0"/>
                </a:solidFill>
                <a:latin typeface="Calibri"/>
                <a:cs typeface="Calibri"/>
              </a:rPr>
              <a:t>El hueco típico: almuerzas a la 1, sales del colegio y entrenas a las 6. Ahí el snack de la hora previa no es opcional.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2 · ANTES DE ESCALAR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V2</a:t>
            </a:r>
          </a:p>
        </p:txBody>
      </p:sp>
      <p:sp>
        <p:nvSpPr>
          <p:cNvPr id="6" name="t6"/>
          <p:cNvSpPr txBox="1"/>
          <p:nvPr/>
        </p:nvSpPr>
        <p:spPr>
          <a:xfrm>
            <a:off x="685800" y="1005840"/>
            <a:ext cx="5212080" cy="73152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F4D5E"/>
                </a:solidFill>
                <a:latin typeface="Arial Black"/>
                <a:cs typeface="Arial Black"/>
              </a:rPr>
              <a:t>ESTO NO,</a:t>
            </a:r>
          </a:p>
        </p:txBody>
      </p:sp>
      <p:sp>
        <p:nvSpPr>
          <p:cNvPr id="7" name="t7"/>
          <p:cNvSpPr txBox="1"/>
          <p:nvPr/>
        </p:nvSpPr>
        <p:spPr>
          <a:xfrm>
            <a:off x="685800" y="1572768"/>
            <a:ext cx="5212080" cy="73152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F4D5E"/>
                </a:solidFill>
                <a:latin typeface="Arial Black"/>
                <a:cs typeface="Arial Black"/>
              </a:rPr>
              <a:t>JUSTO ANTES</a:t>
            </a:r>
          </a:p>
        </p:txBody>
      </p:sp>
      <p:sp>
        <p:nvSpPr>
          <p:cNvPr id="8" name="t8"/>
          <p:cNvSpPr txBox="1"/>
          <p:nvPr/>
        </p:nvSpPr>
        <p:spPr>
          <a:xfrm>
            <a:off x="685800" y="2514600"/>
            <a:ext cx="5029200" cy="3291840"/>
          </a:xfrm>
          <a:prstGeom prst="rect">
            <a:avLst/>
          </a:prstGeom>
          <a:noFill/>
        </p:spPr>
        <p:txBody>
          <a:bodyPr wrap="square" lIns="0" tIns="0" rIns="0" bIns="0" anchor="ctr">
            <a:normAutofit/>
          </a:bodyPr>
          <a:lstStyle/>
          <a:p>
            <a:pPr marL="180000" indent="-180000" algn="l">
              <a:lnSpc>
                <a:spcPct val="118000"/>
              </a:lnSpc>
              <a:spcBef>
                <a:spcPts val="900"/>
              </a:spcBef>
              <a:buClr>
                <a:srgbClr val="FF4D5E"/>
              </a:buClr>
              <a:buSzPct val="90000"/>
              <a:buFont typeface="Arial"/>
              <a:buChar char="●"/>
            </a:pPr>
            <a:r>
              <a:rPr lang="es-PE" sz="1450" b="0" spc="0" dirty="0">
                <a:solidFill>
                  <a:srgbClr val="F2F6F4"/>
                </a:solidFill>
                <a:latin typeface="Calibri"/>
                <a:cs typeface="Calibri"/>
              </a:rPr>
              <a:t>Frit</a:t>
            </a:r>
            <a:r>
              <a:rPr lang="es-PE" sz="1450" dirty="0">
                <a:solidFill>
                  <a:srgbClr val="F2F6F4"/>
                </a:solidFill>
                <a:latin typeface="Calibri"/>
                <a:cs typeface="Calibri"/>
              </a:rPr>
              <a:t>uras y grasas</a:t>
            </a:r>
            <a:r>
              <a:rPr lang="es-PE" sz="1450" b="0" spc="0" dirty="0">
                <a:solidFill>
                  <a:srgbClr val="F2F6F4"/>
                </a:solidFill>
                <a:latin typeface="Calibri"/>
                <a:cs typeface="Calibri"/>
              </a:rPr>
              <a:t>: se queda en el estómago mientras cuelgas.</a:t>
            </a:r>
          </a:p>
          <a:p>
            <a:pPr marL="180000" indent="-180000" algn="l">
              <a:lnSpc>
                <a:spcPct val="118000"/>
              </a:lnSpc>
              <a:spcBef>
                <a:spcPts val="900"/>
              </a:spcBef>
              <a:buClr>
                <a:srgbClr val="FF4D5E"/>
              </a:buClr>
              <a:buSzPct val="90000"/>
              <a:buFont typeface="Arial"/>
              <a:buChar char="●"/>
            </a:pPr>
            <a:r>
              <a:rPr lang="es-PE" sz="1450" b="0" spc="0" dirty="0">
                <a:solidFill>
                  <a:srgbClr val="F2F6F4"/>
                </a:solidFill>
                <a:latin typeface="Calibri"/>
                <a:cs typeface="Calibri"/>
              </a:rPr>
              <a:t>Mucha fibra de golpe: </a:t>
            </a:r>
            <a:r>
              <a:rPr lang="es-PE" sz="1450" dirty="0">
                <a:solidFill>
                  <a:srgbClr val="F2F6F4"/>
                </a:solidFill>
                <a:latin typeface="Calibri"/>
                <a:cs typeface="Calibri"/>
              </a:rPr>
              <a:t>cereales integrales, semillas, etc. Pueden generar molestias GI, y empeorar la absorción de hidratos.</a:t>
            </a:r>
            <a:endParaRPr lang="es-PE" sz="1450" b="0" spc="0" dirty="0">
              <a:solidFill>
                <a:srgbClr val="F2F6F4"/>
              </a:solidFill>
              <a:latin typeface="Calibri"/>
              <a:cs typeface="Calibri"/>
            </a:endParaRPr>
          </a:p>
        </p:txBody>
      </p:sp>
      <p:sp>
        <p:nvSpPr>
          <p:cNvPr id="9" name="f9"/>
          <p:cNvSpPr/>
          <p:nvPr/>
        </p:nvSpPr>
        <p:spPr>
          <a:xfrm>
            <a:off x="6035040" y="1005840"/>
            <a:ext cx="18288" cy="4846320"/>
          </a:xfrm>
          <a:prstGeom prst="rect">
            <a:avLst/>
          </a:prstGeom>
          <a:solidFill>
            <a:srgbClr val="2B4149"/>
          </a:solidFill>
          <a:ln>
            <a:noFill/>
          </a:ln>
        </p:spPr>
        <p:txBody>
          <a:bodyPr/>
          <a:lstStyle/>
          <a:p>
            <a:endParaRPr lang="es-PE"/>
          </a:p>
        </p:txBody>
      </p:sp>
      <p:sp>
        <p:nvSpPr>
          <p:cNvPr id="10" name="t10"/>
          <p:cNvSpPr txBox="1"/>
          <p:nvPr/>
        </p:nvSpPr>
        <p:spPr>
          <a:xfrm>
            <a:off x="6446520" y="1005840"/>
            <a:ext cx="5029200" cy="566928"/>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4ADE80"/>
                </a:solidFill>
                <a:latin typeface="Arial Black"/>
                <a:cs typeface="Arial Black"/>
              </a:rPr>
              <a:t>ESTO SÍ</a:t>
            </a:r>
            <a:endParaRPr lang="es-PE" sz="3200" b="1" dirty="0">
              <a:solidFill>
                <a:srgbClr val="4ADE80"/>
              </a:solidFill>
              <a:latin typeface="Arial Black"/>
              <a:cs typeface="Arial Black"/>
            </a:endParaRPr>
          </a:p>
          <a:p>
            <a:pPr algn="l">
              <a:lnSpc>
                <a:spcPct val="100000"/>
              </a:lnSpc>
              <a:spcBef>
                <a:spcPts val="0"/>
              </a:spcBef>
            </a:pPr>
            <a:endParaRPr lang="es-PE" sz="3200" b="1" spc="0" dirty="0">
              <a:solidFill>
                <a:srgbClr val="4ADE80"/>
              </a:solidFill>
              <a:latin typeface="Arial Black"/>
              <a:cs typeface="Arial Black"/>
            </a:endParaRPr>
          </a:p>
        </p:txBody>
      </p:sp>
      <p:sp>
        <p:nvSpPr>
          <p:cNvPr id="11" name="t11"/>
          <p:cNvSpPr txBox="1"/>
          <p:nvPr/>
        </p:nvSpPr>
        <p:spPr>
          <a:xfrm>
            <a:off x="6446520" y="2304288"/>
            <a:ext cx="4937760" cy="3291840"/>
          </a:xfrm>
          <a:prstGeom prst="rect">
            <a:avLst/>
          </a:prstGeom>
          <a:noFill/>
        </p:spPr>
        <p:txBody>
          <a:bodyPr wrap="square" lIns="0" tIns="0" rIns="0" bIns="0" anchor="ctr">
            <a:normAutofit lnSpcReduction="10000"/>
          </a:bodyPr>
          <a:lstStyle/>
          <a:p>
            <a:pPr marL="180000" indent="-180000" algn="l">
              <a:lnSpc>
                <a:spcPct val="118000"/>
              </a:lnSpc>
              <a:spcBef>
                <a:spcPts val="900"/>
              </a:spcBef>
              <a:buClr>
                <a:srgbClr val="4ADE80"/>
              </a:buClr>
              <a:buSzPct val="90000"/>
              <a:buFont typeface="Arial"/>
              <a:buChar char="●"/>
            </a:pPr>
            <a:endParaRPr lang="es-PE" sz="1450" b="0" spc="0" dirty="0">
              <a:solidFill>
                <a:srgbClr val="F2F6F4"/>
              </a:solidFill>
              <a:latin typeface="Calibri"/>
              <a:cs typeface="Calibri"/>
            </a:endParaRPr>
          </a:p>
          <a:p>
            <a:pPr marL="180000" indent="-180000" algn="l">
              <a:lnSpc>
                <a:spcPct val="118000"/>
              </a:lnSpc>
              <a:spcBef>
                <a:spcPts val="900"/>
              </a:spcBef>
              <a:buClr>
                <a:srgbClr val="4ADE80"/>
              </a:buClr>
              <a:buSzPct val="90000"/>
              <a:buFont typeface="Arial"/>
              <a:buChar char="●"/>
            </a:pPr>
            <a:r>
              <a:rPr lang="es-PE" sz="1450" dirty="0">
                <a:solidFill>
                  <a:schemeClr val="tx1"/>
                </a:solidFill>
                <a:latin typeface="+mn-lt"/>
                <a:cs typeface="Arial Black"/>
              </a:rPr>
              <a:t>A</a:t>
            </a:r>
            <a:r>
              <a:rPr lang="es-PE" sz="1450" spc="0" dirty="0">
                <a:solidFill>
                  <a:schemeClr val="tx1"/>
                </a:solidFill>
                <a:latin typeface="+mn-lt"/>
                <a:cs typeface="Arial Black"/>
              </a:rPr>
              <a:t>ntes de entrenar pueden ir alimentos más azucarados, pero tratando de mantener la línea de lo saludable.</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Algo conocido. El día del campeonato no se prueba comida nueva.</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Algo simple: fruta</a:t>
            </a:r>
            <a:r>
              <a:rPr lang="es-PE" sz="1450" dirty="0">
                <a:solidFill>
                  <a:srgbClr val="F2F6F4"/>
                </a:solidFill>
                <a:latin typeface="Calibri"/>
                <a:cs typeface="Calibri"/>
              </a:rPr>
              <a:t>s, mejor si son bajas en fibra o jugo natural, pan blanco, crema de arroz, papilla tipo </a:t>
            </a:r>
            <a:r>
              <a:rPr lang="es-PE" sz="1450" dirty="0" err="1">
                <a:solidFill>
                  <a:srgbClr val="F2F6F4"/>
                </a:solidFill>
                <a:latin typeface="Calibri"/>
                <a:cs typeface="Calibri"/>
              </a:rPr>
              <a:t>nestum</a:t>
            </a:r>
            <a:r>
              <a:rPr lang="es-PE" sz="1450" dirty="0">
                <a:solidFill>
                  <a:srgbClr val="F2F6F4"/>
                </a:solidFill>
                <a:latin typeface="Calibri"/>
                <a:cs typeface="Calibri"/>
              </a:rPr>
              <a:t> o </a:t>
            </a:r>
            <a:r>
              <a:rPr lang="es-PE" sz="1450" dirty="0" err="1">
                <a:solidFill>
                  <a:srgbClr val="F2F6F4"/>
                </a:solidFill>
                <a:latin typeface="Calibri"/>
                <a:cs typeface="Calibri"/>
              </a:rPr>
              <a:t>cerelac</a:t>
            </a:r>
            <a:r>
              <a:rPr lang="es-PE" sz="1450" dirty="0">
                <a:solidFill>
                  <a:srgbClr val="F2F6F4"/>
                </a:solidFill>
                <a:latin typeface="Calibri"/>
                <a:cs typeface="Calibri"/>
              </a:rPr>
              <a:t>, compotas, miel de abeja, mermelada (mejor casera), frutas deshidratadas (pasas, arándanos deshidratados, mango deshidratado, dátiles)</a:t>
            </a:r>
            <a:r>
              <a:rPr lang="es-PE" sz="1450" b="0" spc="0" dirty="0">
                <a:solidFill>
                  <a:srgbClr val="F2F6F4"/>
                </a:solidFill>
                <a:latin typeface="Calibri"/>
                <a:cs typeface="Calibri"/>
              </a:rPr>
              <a:t>.</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Agua desde que sales de casa, no cuando ya tienes 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3FC1C9"/>
                </a:solidFill>
                <a:latin typeface="Arial Black"/>
                <a:cs typeface="Arial Black"/>
              </a:rPr>
              <a:t>EL TEST MÁS HONESTO: </a:t>
            </a:r>
            <a:r>
              <a:rPr lang="es-PE" sz="3200" b="1" dirty="0">
                <a:solidFill>
                  <a:srgbClr val="3FC1C9"/>
                </a:solidFill>
                <a:latin typeface="Arial Black"/>
                <a:cs typeface="Arial Black"/>
              </a:rPr>
              <a:t>El color de tu orina.</a:t>
            </a:r>
            <a:endParaRPr lang="es-PE" sz="3200" b="1" spc="0" dirty="0">
              <a:solidFill>
                <a:srgbClr val="3FC1C9"/>
              </a:solidFill>
              <a:latin typeface="Arial Black"/>
              <a:cs typeface="Arial Black"/>
            </a:endParaRPr>
          </a:p>
        </p:txBody>
      </p:sp>
      <p:sp>
        <p:nvSpPr>
          <p:cNvPr id="7" name="t7"/>
          <p:cNvSpPr txBox="1"/>
          <p:nvPr/>
        </p:nvSpPr>
        <p:spPr>
          <a:xfrm>
            <a:off x="685800" y="178308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Mírala antes de entrenar. Te da información rápida de tu estado de hidratación al arrancar tu entrenamiento. </a:t>
            </a:r>
          </a:p>
        </p:txBody>
      </p:sp>
      <p:sp>
        <p:nvSpPr>
          <p:cNvPr id="8" name="f8"/>
          <p:cNvSpPr/>
          <p:nvPr/>
        </p:nvSpPr>
        <p:spPr>
          <a:xfrm>
            <a:off x="685800" y="2377440"/>
            <a:ext cx="2560320" cy="1874520"/>
          </a:xfrm>
          <a:prstGeom prst="rect">
            <a:avLst/>
          </a:prstGeom>
          <a:solidFill>
            <a:srgbClr val="F7F3D8"/>
          </a:solidFill>
          <a:ln>
            <a:noFill/>
          </a:ln>
        </p:spPr>
        <p:txBody>
          <a:bodyPr/>
          <a:lstStyle/>
          <a:p>
            <a:endParaRPr lang="es-PE"/>
          </a:p>
        </p:txBody>
      </p:sp>
      <p:sp>
        <p:nvSpPr>
          <p:cNvPr id="9" name="t9"/>
          <p:cNvSpPr txBox="1"/>
          <p:nvPr/>
        </p:nvSpPr>
        <p:spPr>
          <a:xfrm>
            <a:off x="685800"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Casi transparente</a:t>
            </a:r>
          </a:p>
        </p:txBody>
      </p:sp>
      <p:sp>
        <p:nvSpPr>
          <p:cNvPr id="10" name="t10"/>
          <p:cNvSpPr txBox="1"/>
          <p:nvPr/>
        </p:nvSpPr>
        <p:spPr>
          <a:xfrm>
            <a:off x="685800"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4ADE80"/>
                </a:solidFill>
                <a:latin typeface="Calibri"/>
                <a:cs typeface="Calibri"/>
              </a:rPr>
              <a:t>Perfecto. Vas bien.</a:t>
            </a:r>
          </a:p>
        </p:txBody>
      </p:sp>
      <p:sp>
        <p:nvSpPr>
          <p:cNvPr id="11" name="f11"/>
          <p:cNvSpPr/>
          <p:nvPr/>
        </p:nvSpPr>
        <p:spPr>
          <a:xfrm>
            <a:off x="3456432" y="2377440"/>
            <a:ext cx="2560320" cy="1874520"/>
          </a:xfrm>
          <a:prstGeom prst="rect">
            <a:avLst/>
          </a:prstGeom>
          <a:solidFill>
            <a:srgbClr val="F2E68A"/>
          </a:solidFill>
          <a:ln>
            <a:noFill/>
          </a:ln>
        </p:spPr>
        <p:txBody>
          <a:bodyPr/>
          <a:lstStyle/>
          <a:p>
            <a:endParaRPr lang="es-PE"/>
          </a:p>
        </p:txBody>
      </p:sp>
      <p:sp>
        <p:nvSpPr>
          <p:cNvPr id="12" name="t12"/>
          <p:cNvSpPr txBox="1"/>
          <p:nvPr/>
        </p:nvSpPr>
        <p:spPr>
          <a:xfrm>
            <a:off x="3456432"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Amarillo claro</a:t>
            </a:r>
          </a:p>
        </p:txBody>
      </p:sp>
      <p:sp>
        <p:nvSpPr>
          <p:cNvPr id="13" name="t13"/>
          <p:cNvSpPr txBox="1"/>
          <p:nvPr/>
        </p:nvSpPr>
        <p:spPr>
          <a:xfrm>
            <a:off x="3456432"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4ADE80"/>
                </a:solidFill>
                <a:latin typeface="Calibri"/>
                <a:cs typeface="Calibri"/>
              </a:rPr>
              <a:t>Ideal. Sigue así.</a:t>
            </a:r>
          </a:p>
        </p:txBody>
      </p:sp>
      <p:sp>
        <p:nvSpPr>
          <p:cNvPr id="14" name="f14"/>
          <p:cNvSpPr/>
          <p:nvPr/>
        </p:nvSpPr>
        <p:spPr>
          <a:xfrm>
            <a:off x="6227064" y="2377440"/>
            <a:ext cx="2560320" cy="1874520"/>
          </a:xfrm>
          <a:prstGeom prst="rect">
            <a:avLst/>
          </a:prstGeom>
          <a:solidFill>
            <a:srgbClr val="E6C74A"/>
          </a:solidFill>
          <a:ln>
            <a:noFill/>
          </a:ln>
        </p:spPr>
        <p:txBody>
          <a:bodyPr/>
          <a:lstStyle/>
          <a:p>
            <a:endParaRPr lang="es-PE"/>
          </a:p>
        </p:txBody>
      </p:sp>
      <p:sp>
        <p:nvSpPr>
          <p:cNvPr id="15" name="t15"/>
          <p:cNvSpPr txBox="1"/>
          <p:nvPr/>
        </p:nvSpPr>
        <p:spPr>
          <a:xfrm>
            <a:off x="6227064"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Amarillo fuerte</a:t>
            </a:r>
          </a:p>
        </p:txBody>
      </p:sp>
      <p:sp>
        <p:nvSpPr>
          <p:cNvPr id="16" name="t16"/>
          <p:cNvSpPr txBox="1"/>
          <p:nvPr/>
        </p:nvSpPr>
        <p:spPr>
          <a:xfrm>
            <a:off x="6227064"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FFC93C"/>
                </a:solidFill>
                <a:latin typeface="Calibri"/>
                <a:cs typeface="Calibri"/>
              </a:rPr>
              <a:t>Toma agua ya.</a:t>
            </a:r>
          </a:p>
        </p:txBody>
      </p:sp>
      <p:sp>
        <p:nvSpPr>
          <p:cNvPr id="17" name="f17"/>
          <p:cNvSpPr/>
          <p:nvPr/>
        </p:nvSpPr>
        <p:spPr>
          <a:xfrm>
            <a:off x="8997696" y="2377440"/>
            <a:ext cx="2560320" cy="1874520"/>
          </a:xfrm>
          <a:prstGeom prst="rect">
            <a:avLst/>
          </a:prstGeom>
          <a:solidFill>
            <a:srgbClr val="B8860B"/>
          </a:solidFill>
          <a:ln>
            <a:noFill/>
          </a:ln>
        </p:spPr>
        <p:txBody>
          <a:bodyPr/>
          <a:lstStyle/>
          <a:p>
            <a:endParaRPr lang="es-PE"/>
          </a:p>
        </p:txBody>
      </p:sp>
      <p:sp>
        <p:nvSpPr>
          <p:cNvPr id="18" name="t18"/>
          <p:cNvSpPr txBox="1"/>
          <p:nvPr/>
        </p:nvSpPr>
        <p:spPr>
          <a:xfrm>
            <a:off x="8997696"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Ámbar oscuro</a:t>
            </a:r>
          </a:p>
        </p:txBody>
      </p:sp>
      <p:sp>
        <p:nvSpPr>
          <p:cNvPr id="19" name="t19"/>
          <p:cNvSpPr txBox="1"/>
          <p:nvPr/>
        </p:nvSpPr>
        <p:spPr>
          <a:xfrm>
            <a:off x="8997696"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FF4D5E"/>
                </a:solidFill>
                <a:latin typeface="Calibri"/>
                <a:cs typeface="Calibri"/>
              </a:rPr>
              <a:t>Deshidratado. Para y toma agua.</a:t>
            </a:r>
          </a:p>
        </p:txBody>
      </p:sp>
      <p:sp>
        <p:nvSpPr>
          <p:cNvPr id="20" name="t20"/>
          <p:cNvSpPr txBox="1"/>
          <p:nvPr/>
        </p:nvSpPr>
        <p:spPr>
          <a:xfrm>
            <a:off x="685800" y="5669280"/>
            <a:ext cx="10789920" cy="457200"/>
          </a:xfrm>
          <a:prstGeom prst="rect">
            <a:avLst/>
          </a:prstGeom>
          <a:noFill/>
        </p:spPr>
        <p:txBody>
          <a:bodyPr wrap="square" lIns="0" tIns="0" rIns="0" bIns="0" anchor="t">
            <a:normAutofit lnSpcReduction="10000"/>
          </a:bodyPr>
          <a:lstStyle/>
          <a:p>
            <a:pPr algn="l">
              <a:lnSpc>
                <a:spcPct val="122000"/>
              </a:lnSpc>
              <a:spcBef>
                <a:spcPts val="0"/>
              </a:spcBef>
            </a:pPr>
            <a:r>
              <a:rPr lang="es-PE" sz="1300" b="0" spc="0" dirty="0">
                <a:solidFill>
                  <a:srgbClr val="9DB2B0"/>
                </a:solidFill>
                <a:latin typeface="Calibri"/>
                <a:cs typeface="Calibri"/>
              </a:rPr>
              <a:t>Perder más del 2 % de tu peso corporal en líquido ya compromete el rendimiento. Y en Lima sudas aunque no haga calor: la humedad no deja que el sudor se evapore. Si hace calor y eres de sudar, es importante usar agua con electrolitos, no agua pura.</a:t>
            </a:r>
          </a:p>
        </p:txBody>
      </p:sp>
      <p:sp>
        <p:nvSpPr>
          <p:cNvPr id="21" name="t21"/>
          <p:cNvSpPr txBox="1"/>
          <p:nvPr/>
        </p:nvSpPr>
        <p:spPr>
          <a:xfrm>
            <a:off x="685800" y="6263640"/>
            <a:ext cx="10789920" cy="27432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American College of Sports Medicine, Exercise and Fluid Replacement (Sawka et al., 2007)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1143000"/>
            <a:ext cx="5029200" cy="1645920"/>
          </a:xfrm>
          <a:prstGeom prst="rect">
            <a:avLst/>
          </a:prstGeom>
          <a:noFill/>
        </p:spPr>
        <p:txBody>
          <a:bodyPr wrap="square" lIns="0" tIns="0" rIns="0" bIns="0" anchor="t">
            <a:normAutofit/>
          </a:bodyPr>
          <a:lstStyle/>
          <a:p>
            <a:pPr algn="l">
              <a:lnSpc>
                <a:spcPct val="92000"/>
              </a:lnSpc>
              <a:spcBef>
                <a:spcPts val="0"/>
              </a:spcBef>
            </a:pPr>
            <a:r>
              <a:rPr lang="es-PE" sz="4000" b="1" spc="0" dirty="0">
                <a:solidFill>
                  <a:srgbClr val="F2F6F4"/>
                </a:solidFill>
                <a:latin typeface="Arial Black"/>
                <a:cs typeface="Arial Black"/>
              </a:rPr>
              <a:t>UNA BOTELLA</a:t>
            </a:r>
          </a:p>
          <a:p>
            <a:pPr algn="l">
              <a:lnSpc>
                <a:spcPct val="92000"/>
              </a:lnSpc>
              <a:spcBef>
                <a:spcPts val="0"/>
              </a:spcBef>
            </a:pPr>
            <a:r>
              <a:rPr lang="es-PE" sz="4000" b="1" spc="0" dirty="0">
                <a:solidFill>
                  <a:srgbClr val="3FC1C9"/>
                </a:solidFill>
                <a:latin typeface="Arial Black"/>
                <a:cs typeface="Arial Black"/>
              </a:rPr>
              <a:t>POR SESIÓN</a:t>
            </a:r>
          </a:p>
        </p:txBody>
      </p:sp>
      <p:sp>
        <p:nvSpPr>
          <p:cNvPr id="7" name="t7"/>
          <p:cNvSpPr txBox="1"/>
          <p:nvPr/>
        </p:nvSpPr>
        <p:spPr>
          <a:xfrm>
            <a:off x="685800" y="3017520"/>
            <a:ext cx="4937760" cy="2377440"/>
          </a:xfrm>
          <a:prstGeom prst="rect">
            <a:avLst/>
          </a:prstGeom>
          <a:noFill/>
        </p:spPr>
        <p:txBody>
          <a:bodyPr wrap="square" lIns="0" tIns="0" rIns="0" bIns="0" anchor="t">
            <a:normAutofit/>
          </a:bodyPr>
          <a:lstStyle/>
          <a:p>
            <a:pPr algn="l">
              <a:lnSpc>
                <a:spcPct val="125000"/>
              </a:lnSpc>
              <a:spcBef>
                <a:spcPts val="0"/>
              </a:spcBef>
            </a:pPr>
            <a:r>
              <a:rPr lang="es-PE" sz="1500" b="0" spc="0" dirty="0">
                <a:solidFill>
                  <a:srgbClr val="9DB2B0"/>
                </a:solidFill>
                <a:latin typeface="Calibri"/>
                <a:cs typeface="Calibri"/>
              </a:rPr>
              <a:t>Unos 750 ml durante dos horas de entreno cómo mínimo, a sorbos cada 15 a 20 minutos. No de golpe al final. Si la </a:t>
            </a:r>
            <a:r>
              <a:rPr lang="es-PE" sz="1500" dirty="0">
                <a:solidFill>
                  <a:srgbClr val="9DB2B0"/>
                </a:solidFill>
                <a:latin typeface="Calibri"/>
                <a:cs typeface="Calibri"/>
              </a:rPr>
              <a:t>sesión es larga y sudas, hay que agregar electrolitos o alguna bebida isotónica. </a:t>
            </a:r>
            <a:endParaRPr lang="es-PE" sz="1500" b="0" spc="0" dirty="0">
              <a:solidFill>
                <a:srgbClr val="9DB2B0"/>
              </a:solidFill>
              <a:latin typeface="Calibri"/>
              <a:cs typeface="Calibri"/>
            </a:endParaRPr>
          </a:p>
        </p:txBody>
      </p:sp>
      <p:sp>
        <p:nvSpPr>
          <p:cNvPr id="8" name="f8"/>
          <p:cNvSpPr/>
          <p:nvPr/>
        </p:nvSpPr>
        <p:spPr>
          <a:xfrm>
            <a:off x="6263640" y="1143000"/>
            <a:ext cx="52120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9" name="t9"/>
          <p:cNvSpPr txBox="1"/>
          <p:nvPr/>
        </p:nvSpPr>
        <p:spPr>
          <a:xfrm>
            <a:off x="6629400" y="1554480"/>
            <a:ext cx="4480560" cy="3840480"/>
          </a:xfrm>
          <a:prstGeom prst="rect">
            <a:avLst/>
          </a:prstGeom>
          <a:noFill/>
        </p:spPr>
        <p:txBody>
          <a:bodyPr wrap="square" lIns="0" tIns="0" rIns="0" bIns="0" anchor="ctr">
            <a:normAutofit/>
          </a:bodyPr>
          <a:lstStyle/>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La botella va al lado de la colchoneta, no dentro de la mochila.</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Si ya tienes sed, llegaste tarde.</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Manos sudadas no es lo mismo que estar hidratado.</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El magnesio seca la piel, no el cuerpo. Igual toma agua.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2900" b="1" spc="0" dirty="0">
                <a:solidFill>
                  <a:srgbClr val="3FC1C9"/>
                </a:solidFill>
                <a:latin typeface="Arial Black"/>
                <a:cs typeface="Arial Black"/>
              </a:rPr>
              <a:t>EL SUDOR NO ES AGUA. ES AGUA CON SAL.</a:t>
            </a:r>
          </a:p>
        </p:txBody>
      </p:sp>
      <p:sp>
        <p:nvSpPr>
          <p:cNvPr id="7" name="t7"/>
          <p:cNvSpPr txBox="1"/>
          <p:nvPr/>
        </p:nvSpPr>
        <p:spPr>
          <a:xfrm>
            <a:off x="685800" y="1920240"/>
            <a:ext cx="50292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3FC1C9"/>
                </a:solidFill>
                <a:latin typeface="Arial Black"/>
                <a:cs typeface="Arial Black"/>
              </a:rPr>
              <a:t>10×</a:t>
            </a:r>
          </a:p>
        </p:txBody>
      </p:sp>
      <p:sp>
        <p:nvSpPr>
          <p:cNvPr id="8" name="t8"/>
          <p:cNvSpPr txBox="1"/>
          <p:nvPr/>
        </p:nvSpPr>
        <p:spPr>
          <a:xfrm>
            <a:off x="685800" y="2971800"/>
            <a:ext cx="5029200" cy="160020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diferencia puede haber entre lo salado que suda una persona y otra: el sodio del sudor va de 10 a 90 mmol/L. Por eso no hay una receta única. Pero si ciertas pautas practicas.</a:t>
            </a:r>
          </a:p>
        </p:txBody>
      </p:sp>
      <p:sp>
        <p:nvSpPr>
          <p:cNvPr id="9" name="f9"/>
          <p:cNvSpPr/>
          <p:nvPr/>
        </p:nvSpPr>
        <p:spPr>
          <a:xfrm>
            <a:off x="685800" y="4590288"/>
            <a:ext cx="5029200" cy="12802"/>
          </a:xfrm>
          <a:prstGeom prst="rect">
            <a:avLst/>
          </a:prstGeom>
          <a:solidFill>
            <a:srgbClr val="2B4149"/>
          </a:solidFill>
          <a:ln>
            <a:noFill/>
          </a:ln>
        </p:spPr>
        <p:txBody>
          <a:bodyPr/>
          <a:lstStyle/>
          <a:p>
            <a:endParaRPr lang="es-PE"/>
          </a:p>
        </p:txBody>
      </p:sp>
      <p:sp>
        <p:nvSpPr>
          <p:cNvPr id="10" name="t10"/>
          <p:cNvSpPr txBox="1"/>
          <p:nvPr/>
        </p:nvSpPr>
        <p:spPr>
          <a:xfrm>
            <a:off x="685800" y="4700016"/>
            <a:ext cx="50292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Baker, Sports Medicine 2017 — revisión de variabilidad del sudor</a:t>
            </a:r>
          </a:p>
        </p:txBody>
      </p:sp>
      <p:sp>
        <p:nvSpPr>
          <p:cNvPr id="11" name="f11"/>
          <p:cNvSpPr/>
          <p:nvPr/>
        </p:nvSpPr>
        <p:spPr>
          <a:xfrm>
            <a:off x="6035040" y="1920240"/>
            <a:ext cx="18288" cy="3566160"/>
          </a:xfrm>
          <a:prstGeom prst="rect">
            <a:avLst/>
          </a:prstGeom>
          <a:solidFill>
            <a:srgbClr val="2B4149"/>
          </a:solidFill>
          <a:ln>
            <a:noFill/>
          </a:ln>
        </p:spPr>
        <p:txBody>
          <a:bodyPr/>
          <a:lstStyle/>
          <a:p>
            <a:endParaRPr lang="es-PE"/>
          </a:p>
        </p:txBody>
      </p:sp>
      <p:sp>
        <p:nvSpPr>
          <p:cNvPr id="12" name="t12"/>
          <p:cNvSpPr txBox="1"/>
          <p:nvPr/>
        </p:nvSpPr>
        <p:spPr>
          <a:xfrm>
            <a:off x="6446520" y="1920240"/>
            <a:ext cx="50292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¿ERES DE SUDOR SALADO?</a:t>
            </a:r>
          </a:p>
        </p:txBody>
      </p:sp>
      <p:sp>
        <p:nvSpPr>
          <p:cNvPr id="13" name="t13"/>
          <p:cNvSpPr txBox="1"/>
          <p:nvPr/>
        </p:nvSpPr>
        <p:spPr>
          <a:xfrm>
            <a:off x="6446520" y="2331720"/>
            <a:ext cx="4937760" cy="1371600"/>
          </a:xfrm>
          <a:prstGeom prst="rect">
            <a:avLst/>
          </a:prstGeom>
          <a:noFill/>
        </p:spPr>
        <p:txBody>
          <a:bodyPr wrap="square" lIns="0" tIns="0" rIns="0" bIns="0" anchor="ctr">
            <a:normAutofit/>
          </a:bodyPr>
          <a:lstStyle/>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Marcas blancas en la polo o la gorra al secarse.</a:t>
            </a:r>
          </a:p>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El sudor te arde en los ojos y sabe muy salado.</a:t>
            </a:r>
          </a:p>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Terminas con calambres en dedos o antebrazos.</a:t>
            </a:r>
          </a:p>
        </p:txBody>
      </p:sp>
      <p:sp>
        <p:nvSpPr>
          <p:cNvPr id="14" name="t14"/>
          <p:cNvSpPr txBox="1"/>
          <p:nvPr/>
        </p:nvSpPr>
        <p:spPr>
          <a:xfrm>
            <a:off x="6446520" y="3886200"/>
            <a:ext cx="50292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¿CUÁNDO AGREGAR SODIO?</a:t>
            </a:r>
          </a:p>
        </p:txBody>
      </p:sp>
      <p:sp>
        <p:nvSpPr>
          <p:cNvPr id="15" name="t15"/>
          <p:cNvSpPr txBox="1"/>
          <p:nvPr/>
        </p:nvSpPr>
        <p:spPr>
          <a:xfrm>
            <a:off x="6446520" y="4297680"/>
            <a:ext cx="4937760" cy="1188720"/>
          </a:xfrm>
          <a:prstGeom prst="rect">
            <a:avLst/>
          </a:prstGeom>
          <a:noFill/>
        </p:spPr>
        <p:txBody>
          <a:bodyPr wrap="square" lIns="0" tIns="0" rIns="0" bIns="0" anchor="ctr">
            <a:normAutofit/>
          </a:bodyPr>
          <a:lstStyle/>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Sesiones de más de</a:t>
            </a:r>
            <a:r>
              <a:rPr lang="es-PE" sz="1200" dirty="0">
                <a:solidFill>
                  <a:srgbClr val="F2F6F4"/>
                </a:solidFill>
                <a:latin typeface="Calibri"/>
                <a:cs typeface="Calibri"/>
              </a:rPr>
              <a:t> 60</a:t>
            </a:r>
            <a:r>
              <a:rPr lang="es-PE" sz="1200" b="0" spc="0" dirty="0">
                <a:solidFill>
                  <a:srgbClr val="F2F6F4"/>
                </a:solidFill>
                <a:latin typeface="Calibri"/>
                <a:cs typeface="Calibri"/>
              </a:rPr>
              <a:t> minutos.</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Días de calor o mucha humedad.</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Competencia con varias rondas en un mismo día.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000" b="1" spc="0" dirty="0">
                <a:solidFill>
                  <a:srgbClr val="F2F6F4"/>
                </a:solidFill>
                <a:latin typeface="Arial Black"/>
                <a:cs typeface="Arial Black"/>
              </a:rPr>
              <a:t>CUÁNTA AGUA NECESITAS DE VERDAD</a:t>
            </a:r>
          </a:p>
        </p:txBody>
      </p:sp>
      <p:sp>
        <p:nvSpPr>
          <p:cNvPr id="7" name="f7"/>
          <p:cNvSpPr/>
          <p:nvPr/>
        </p:nvSpPr>
        <p:spPr>
          <a:xfrm>
            <a:off x="685800" y="1965960"/>
            <a:ext cx="2651760" cy="3246120"/>
          </a:xfrm>
          <a:prstGeom prst="roundRect">
            <a:avLst>
              <a:gd name="adj" fmla="val 6000"/>
            </a:avLst>
          </a:prstGeom>
          <a:solidFill>
            <a:srgbClr val="16232A"/>
          </a:solidFill>
          <a:ln w="12700">
            <a:solidFill>
              <a:srgbClr val="2B4149"/>
            </a:solidFill>
          </a:ln>
        </p:spPr>
        <p:txBody>
          <a:bodyPr/>
          <a:lstStyle/>
          <a:p>
            <a:endParaRPr lang="es-PE"/>
          </a:p>
        </p:txBody>
      </p:sp>
      <p:sp>
        <p:nvSpPr>
          <p:cNvPr id="8" name="t8"/>
          <p:cNvSpPr txBox="1"/>
          <p:nvPr/>
        </p:nvSpPr>
        <p:spPr>
          <a:xfrm>
            <a:off x="941832" y="2203704"/>
            <a:ext cx="2139696" cy="219456"/>
          </a:xfrm>
          <a:prstGeom prst="rect">
            <a:avLst/>
          </a:prstGeom>
          <a:noFill/>
        </p:spPr>
        <p:txBody>
          <a:bodyPr wrap="square" lIns="0" tIns="0" rIns="0" bIns="0" anchor="t">
            <a:normAutofit/>
          </a:bodyPr>
          <a:lstStyle/>
          <a:p>
            <a:pPr algn="l">
              <a:lnSpc>
                <a:spcPct val="100000"/>
              </a:lnSpc>
              <a:spcBef>
                <a:spcPts val="0"/>
              </a:spcBef>
            </a:pPr>
            <a:r>
              <a:rPr lang="es-PE" sz="900" b="0" spc="160" dirty="0">
                <a:solidFill>
                  <a:srgbClr val="FF5A36"/>
                </a:solidFill>
                <a:latin typeface="Consolas"/>
                <a:cs typeface="Consolas"/>
              </a:rPr>
              <a:t>PASO 1 · TU BASE</a:t>
            </a:r>
          </a:p>
        </p:txBody>
      </p:sp>
      <p:sp>
        <p:nvSpPr>
          <p:cNvPr id="9" name="t9"/>
          <p:cNvSpPr txBox="1"/>
          <p:nvPr/>
        </p:nvSpPr>
        <p:spPr>
          <a:xfrm>
            <a:off x="941832" y="2587752"/>
            <a:ext cx="2139696" cy="1234440"/>
          </a:xfrm>
          <a:prstGeom prst="rect">
            <a:avLst/>
          </a:prstGeom>
          <a:noFill/>
        </p:spPr>
        <p:txBody>
          <a:bodyPr wrap="square" lIns="0" tIns="0" rIns="0" bIns="0" anchor="t">
            <a:normAutofit/>
          </a:bodyPr>
          <a:lstStyle/>
          <a:p>
            <a:pPr algn="l">
              <a:lnSpc>
                <a:spcPct val="122000"/>
              </a:lnSpc>
              <a:spcBef>
                <a:spcPts val="0"/>
              </a:spcBef>
            </a:pPr>
            <a:r>
              <a:rPr lang="es-PE" sz="1450" b="0" spc="0" dirty="0">
                <a:solidFill>
                  <a:srgbClr val="FFC93C"/>
                </a:solidFill>
                <a:latin typeface="Consolas"/>
                <a:cs typeface="Consolas"/>
              </a:rPr>
              <a:t>35 ml x kg</a:t>
            </a:r>
          </a:p>
          <a:p>
            <a:pPr algn="l">
              <a:lnSpc>
                <a:spcPct val="122000"/>
              </a:lnSpc>
              <a:spcBef>
                <a:spcPts val="0"/>
              </a:spcBef>
            </a:pPr>
            <a:r>
              <a:rPr lang="es-PE" sz="1450" b="0" spc="0" dirty="0">
                <a:solidFill>
                  <a:srgbClr val="FFC93C"/>
                </a:solidFill>
                <a:latin typeface="Consolas"/>
                <a:cs typeface="Consolas"/>
              </a:rPr>
              <a:t>de masa magra</a:t>
            </a:r>
          </a:p>
        </p:txBody>
      </p:sp>
      <p:sp>
        <p:nvSpPr>
          <p:cNvPr id="10" name="t10"/>
          <p:cNvSpPr txBox="1"/>
          <p:nvPr/>
        </p:nvSpPr>
        <p:spPr>
          <a:xfrm>
            <a:off x="941832" y="3904488"/>
            <a:ext cx="2139696" cy="1097280"/>
          </a:xfrm>
          <a:prstGeom prst="rect">
            <a:avLst/>
          </a:prstGeom>
          <a:noFill/>
        </p:spPr>
        <p:txBody>
          <a:bodyPr wrap="square" lIns="0" tIns="0" rIns="0" bIns="0" anchor="t">
            <a:normAutofit/>
          </a:bodyPr>
          <a:lstStyle/>
          <a:p>
            <a:pPr algn="l">
              <a:lnSpc>
                <a:spcPct val="120000"/>
              </a:lnSpc>
              <a:spcBef>
                <a:spcPts val="0"/>
              </a:spcBef>
            </a:pPr>
            <a:r>
              <a:rPr lang="es-PE" sz="1100" b="0" spc="0" dirty="0">
                <a:solidFill>
                  <a:srgbClr val="9DB2B0"/>
                </a:solidFill>
                <a:latin typeface="Calibri"/>
                <a:cs typeface="Calibri"/>
              </a:rPr>
              <a:t>La masa magra es tu cuerpo sin la grasa: el tejido que de verdad gasta agua.</a:t>
            </a:r>
          </a:p>
        </p:txBody>
      </p:sp>
      <p:sp>
        <p:nvSpPr>
          <p:cNvPr id="11" name="f11"/>
          <p:cNvSpPr/>
          <p:nvPr/>
        </p:nvSpPr>
        <p:spPr>
          <a:xfrm>
            <a:off x="3538728" y="1965960"/>
            <a:ext cx="2651760" cy="3246120"/>
          </a:xfrm>
          <a:prstGeom prst="roundRect">
            <a:avLst>
              <a:gd name="adj" fmla="val 6000"/>
            </a:avLst>
          </a:prstGeom>
          <a:solidFill>
            <a:srgbClr val="16232A"/>
          </a:solidFill>
          <a:ln w="12700">
            <a:solidFill>
              <a:srgbClr val="2B4149"/>
            </a:solidFill>
          </a:ln>
        </p:spPr>
        <p:txBody>
          <a:bodyPr/>
          <a:lstStyle/>
          <a:p>
            <a:endParaRPr lang="es-PE"/>
          </a:p>
        </p:txBody>
      </p:sp>
      <p:sp>
        <p:nvSpPr>
          <p:cNvPr id="12" name="t12"/>
          <p:cNvSpPr txBox="1"/>
          <p:nvPr/>
        </p:nvSpPr>
        <p:spPr>
          <a:xfrm>
            <a:off x="3794760" y="2203704"/>
            <a:ext cx="2139696" cy="219456"/>
          </a:xfrm>
          <a:prstGeom prst="rect">
            <a:avLst/>
          </a:prstGeom>
          <a:noFill/>
        </p:spPr>
        <p:txBody>
          <a:bodyPr wrap="square" lIns="0" tIns="0" rIns="0" bIns="0" anchor="t">
            <a:normAutofit/>
          </a:bodyPr>
          <a:lstStyle/>
          <a:p>
            <a:pPr algn="l">
              <a:lnSpc>
                <a:spcPct val="100000"/>
              </a:lnSpc>
              <a:spcBef>
                <a:spcPts val="0"/>
              </a:spcBef>
            </a:pPr>
            <a:r>
              <a:rPr lang="es-PE" sz="900" b="0" spc="160" dirty="0">
                <a:solidFill>
                  <a:srgbClr val="FF5A36"/>
                </a:solidFill>
                <a:latin typeface="Consolas"/>
                <a:cs typeface="Consolas"/>
              </a:rPr>
              <a:t>PASO 2 · EJEMPLO</a:t>
            </a:r>
          </a:p>
        </p:txBody>
      </p:sp>
      <p:sp>
        <p:nvSpPr>
          <p:cNvPr id="13" name="t13"/>
          <p:cNvSpPr txBox="1"/>
          <p:nvPr/>
        </p:nvSpPr>
        <p:spPr>
          <a:xfrm>
            <a:off x="3794760" y="2587752"/>
            <a:ext cx="2139696" cy="1234440"/>
          </a:xfrm>
          <a:prstGeom prst="rect">
            <a:avLst/>
          </a:prstGeom>
          <a:noFill/>
        </p:spPr>
        <p:txBody>
          <a:bodyPr wrap="square" lIns="0" tIns="0" rIns="0" bIns="0" anchor="t">
            <a:normAutofit/>
          </a:bodyPr>
          <a:lstStyle/>
          <a:p>
            <a:pPr algn="l">
              <a:lnSpc>
                <a:spcPct val="122000"/>
              </a:lnSpc>
              <a:spcBef>
                <a:spcPts val="0"/>
              </a:spcBef>
            </a:pPr>
            <a:r>
              <a:rPr lang="es-PE" sz="1450" b="0" spc="0" dirty="0">
                <a:solidFill>
                  <a:srgbClr val="FFC93C"/>
                </a:solidFill>
                <a:latin typeface="Consolas"/>
                <a:cs typeface="Consolas"/>
              </a:rPr>
              <a:t>50 kg · 20 % grasa</a:t>
            </a:r>
          </a:p>
          <a:p>
            <a:pPr algn="l">
              <a:lnSpc>
                <a:spcPct val="122000"/>
              </a:lnSpc>
              <a:spcBef>
                <a:spcPts val="0"/>
              </a:spcBef>
            </a:pPr>
            <a:r>
              <a:rPr lang="es-PE" sz="1450" b="0" spc="0" dirty="0">
                <a:solidFill>
                  <a:srgbClr val="FFC93C"/>
                </a:solidFill>
                <a:latin typeface="Consolas"/>
                <a:cs typeface="Consolas"/>
              </a:rPr>
              <a:t>= 40 kg magros</a:t>
            </a:r>
          </a:p>
          <a:p>
            <a:pPr algn="l">
              <a:lnSpc>
                <a:spcPct val="122000"/>
              </a:lnSpc>
              <a:spcBef>
                <a:spcPts val="0"/>
              </a:spcBef>
            </a:pPr>
            <a:r>
              <a:rPr lang="es-PE" sz="1450" b="0" spc="0" dirty="0">
                <a:solidFill>
                  <a:srgbClr val="FFC93C"/>
                </a:solidFill>
                <a:latin typeface="Consolas"/>
                <a:cs typeface="Consolas"/>
              </a:rPr>
              <a:t>40 x 35 = 1 400 ml</a:t>
            </a:r>
          </a:p>
        </p:txBody>
      </p:sp>
      <p:sp>
        <p:nvSpPr>
          <p:cNvPr id="14" name="t14"/>
          <p:cNvSpPr txBox="1"/>
          <p:nvPr/>
        </p:nvSpPr>
        <p:spPr>
          <a:xfrm>
            <a:off x="3794760" y="3904488"/>
            <a:ext cx="2139696" cy="1097280"/>
          </a:xfrm>
          <a:prstGeom prst="rect">
            <a:avLst/>
          </a:prstGeom>
          <a:noFill/>
        </p:spPr>
        <p:txBody>
          <a:bodyPr wrap="square" lIns="0" tIns="0" rIns="0" bIns="0" anchor="t">
            <a:normAutofit/>
          </a:bodyPr>
          <a:lstStyle/>
          <a:p>
            <a:pPr algn="l">
              <a:lnSpc>
                <a:spcPct val="120000"/>
              </a:lnSpc>
              <a:spcBef>
                <a:spcPts val="0"/>
              </a:spcBef>
            </a:pPr>
            <a:r>
              <a:rPr lang="es-PE" sz="1100" b="0" spc="0" dirty="0">
                <a:solidFill>
                  <a:srgbClr val="9DB2B0"/>
                </a:solidFill>
                <a:latin typeface="Calibri"/>
                <a:cs typeface="Calibri"/>
              </a:rPr>
              <a:t>Esa es tu base del día, antes de entrenar.</a:t>
            </a:r>
          </a:p>
        </p:txBody>
      </p:sp>
      <p:sp>
        <p:nvSpPr>
          <p:cNvPr id="15" name="f15"/>
          <p:cNvSpPr/>
          <p:nvPr/>
        </p:nvSpPr>
        <p:spPr>
          <a:xfrm>
            <a:off x="6391656" y="1965960"/>
            <a:ext cx="2651760" cy="3246120"/>
          </a:xfrm>
          <a:prstGeom prst="roundRect">
            <a:avLst>
              <a:gd name="adj" fmla="val 6000"/>
            </a:avLst>
          </a:prstGeom>
          <a:solidFill>
            <a:srgbClr val="16232A"/>
          </a:solidFill>
          <a:ln w="12700">
            <a:solidFill>
              <a:srgbClr val="2B4149"/>
            </a:solidFill>
          </a:ln>
        </p:spPr>
        <p:txBody>
          <a:bodyPr/>
          <a:lstStyle/>
          <a:p>
            <a:endParaRPr lang="es-PE"/>
          </a:p>
        </p:txBody>
      </p:sp>
      <p:sp>
        <p:nvSpPr>
          <p:cNvPr id="16" name="t16"/>
          <p:cNvSpPr txBox="1"/>
          <p:nvPr/>
        </p:nvSpPr>
        <p:spPr>
          <a:xfrm>
            <a:off x="6647688" y="2203704"/>
            <a:ext cx="2139696" cy="219456"/>
          </a:xfrm>
          <a:prstGeom prst="rect">
            <a:avLst/>
          </a:prstGeom>
          <a:noFill/>
        </p:spPr>
        <p:txBody>
          <a:bodyPr wrap="square" lIns="0" tIns="0" rIns="0" bIns="0" anchor="t">
            <a:normAutofit/>
          </a:bodyPr>
          <a:lstStyle/>
          <a:p>
            <a:pPr algn="l">
              <a:lnSpc>
                <a:spcPct val="100000"/>
              </a:lnSpc>
              <a:spcBef>
                <a:spcPts val="0"/>
              </a:spcBef>
            </a:pPr>
            <a:r>
              <a:rPr lang="es-PE" sz="900" b="0" spc="160" dirty="0">
                <a:solidFill>
                  <a:srgbClr val="FF5A36"/>
                </a:solidFill>
                <a:latin typeface="Consolas"/>
                <a:cs typeface="Consolas"/>
              </a:rPr>
              <a:t>PASO 3 · LO QUE PIERDES</a:t>
            </a:r>
          </a:p>
        </p:txBody>
      </p:sp>
      <p:sp>
        <p:nvSpPr>
          <p:cNvPr id="17" name="t17"/>
          <p:cNvSpPr txBox="1"/>
          <p:nvPr/>
        </p:nvSpPr>
        <p:spPr>
          <a:xfrm>
            <a:off x="6647688" y="2587752"/>
            <a:ext cx="2139696" cy="1234440"/>
          </a:xfrm>
          <a:prstGeom prst="rect">
            <a:avLst/>
          </a:prstGeom>
          <a:noFill/>
        </p:spPr>
        <p:txBody>
          <a:bodyPr wrap="square" lIns="0" tIns="0" rIns="0" bIns="0" anchor="t">
            <a:normAutofit/>
          </a:bodyPr>
          <a:lstStyle/>
          <a:p>
            <a:pPr algn="l">
              <a:lnSpc>
                <a:spcPct val="122000"/>
              </a:lnSpc>
              <a:spcBef>
                <a:spcPts val="0"/>
              </a:spcBef>
            </a:pPr>
            <a:r>
              <a:rPr lang="es-PE" sz="1450" b="0" spc="0" dirty="0">
                <a:solidFill>
                  <a:srgbClr val="FFC93C"/>
                </a:solidFill>
                <a:latin typeface="Consolas"/>
                <a:cs typeface="Consolas"/>
              </a:rPr>
              <a:t>1 kg en la balanza</a:t>
            </a:r>
          </a:p>
          <a:p>
            <a:pPr algn="l">
              <a:lnSpc>
                <a:spcPct val="122000"/>
              </a:lnSpc>
              <a:spcBef>
                <a:spcPts val="0"/>
              </a:spcBef>
            </a:pPr>
            <a:r>
              <a:rPr lang="es-PE" sz="1450" b="0" spc="0" dirty="0">
                <a:solidFill>
                  <a:srgbClr val="FFC93C"/>
                </a:solidFill>
                <a:latin typeface="Consolas"/>
                <a:cs typeface="Consolas"/>
              </a:rPr>
              <a:t>aprox. 1 litro</a:t>
            </a:r>
          </a:p>
        </p:txBody>
      </p:sp>
      <p:sp>
        <p:nvSpPr>
          <p:cNvPr id="18" name="t18"/>
          <p:cNvSpPr txBox="1"/>
          <p:nvPr/>
        </p:nvSpPr>
        <p:spPr>
          <a:xfrm>
            <a:off x="6647688" y="3904488"/>
            <a:ext cx="2139696" cy="1097280"/>
          </a:xfrm>
          <a:prstGeom prst="rect">
            <a:avLst/>
          </a:prstGeom>
          <a:noFill/>
        </p:spPr>
        <p:txBody>
          <a:bodyPr wrap="square" lIns="0" tIns="0" rIns="0" bIns="0" anchor="t">
            <a:normAutofit/>
          </a:bodyPr>
          <a:lstStyle/>
          <a:p>
            <a:pPr algn="l">
              <a:lnSpc>
                <a:spcPct val="120000"/>
              </a:lnSpc>
              <a:spcBef>
                <a:spcPts val="0"/>
              </a:spcBef>
            </a:pPr>
            <a:r>
              <a:rPr lang="es-PE" sz="1100" b="0" spc="0" dirty="0">
                <a:solidFill>
                  <a:srgbClr val="9DB2B0"/>
                </a:solidFill>
                <a:latin typeface="Calibri"/>
                <a:cs typeface="Calibri"/>
              </a:rPr>
              <a:t>Pésate antes y después del entreno, con poca ropa y seco.</a:t>
            </a:r>
          </a:p>
        </p:txBody>
      </p:sp>
      <p:sp>
        <p:nvSpPr>
          <p:cNvPr id="19" name="f19"/>
          <p:cNvSpPr/>
          <p:nvPr/>
        </p:nvSpPr>
        <p:spPr>
          <a:xfrm>
            <a:off x="9244584" y="1965960"/>
            <a:ext cx="2240280" cy="3246120"/>
          </a:xfrm>
          <a:prstGeom prst="roundRect">
            <a:avLst>
              <a:gd name="adj" fmla="val 6000"/>
            </a:avLst>
          </a:prstGeom>
          <a:solidFill>
            <a:srgbClr val="16232A"/>
          </a:solidFill>
          <a:ln w="12700">
            <a:solidFill>
              <a:srgbClr val="4ADE80"/>
            </a:solidFill>
          </a:ln>
        </p:spPr>
        <p:txBody>
          <a:bodyPr/>
          <a:lstStyle/>
          <a:p>
            <a:endParaRPr lang="es-PE"/>
          </a:p>
        </p:txBody>
      </p:sp>
      <p:sp>
        <p:nvSpPr>
          <p:cNvPr id="20" name="t20"/>
          <p:cNvSpPr txBox="1"/>
          <p:nvPr/>
        </p:nvSpPr>
        <p:spPr>
          <a:xfrm>
            <a:off x="9500616" y="2203704"/>
            <a:ext cx="1728216" cy="219456"/>
          </a:xfrm>
          <a:prstGeom prst="rect">
            <a:avLst/>
          </a:prstGeom>
          <a:noFill/>
        </p:spPr>
        <p:txBody>
          <a:bodyPr wrap="square" lIns="0" tIns="0" rIns="0" bIns="0" anchor="t">
            <a:normAutofit/>
          </a:bodyPr>
          <a:lstStyle/>
          <a:p>
            <a:pPr algn="l">
              <a:lnSpc>
                <a:spcPct val="100000"/>
              </a:lnSpc>
              <a:spcBef>
                <a:spcPts val="0"/>
              </a:spcBef>
            </a:pPr>
            <a:r>
              <a:rPr lang="es-PE" sz="900" b="0" spc="160" dirty="0">
                <a:solidFill>
                  <a:srgbClr val="FF5A36"/>
                </a:solidFill>
                <a:latin typeface="Consolas"/>
                <a:cs typeface="Consolas"/>
              </a:rPr>
              <a:t>PASO 4 · REPONER</a:t>
            </a:r>
          </a:p>
        </p:txBody>
      </p:sp>
      <p:sp>
        <p:nvSpPr>
          <p:cNvPr id="21" name="t21"/>
          <p:cNvSpPr txBox="1"/>
          <p:nvPr/>
        </p:nvSpPr>
        <p:spPr>
          <a:xfrm>
            <a:off x="9500616" y="2587752"/>
            <a:ext cx="1728216" cy="1234440"/>
          </a:xfrm>
          <a:prstGeom prst="rect">
            <a:avLst/>
          </a:prstGeom>
          <a:noFill/>
        </p:spPr>
        <p:txBody>
          <a:bodyPr wrap="square" lIns="0" tIns="0" rIns="0" bIns="0" anchor="t">
            <a:normAutofit/>
          </a:bodyPr>
          <a:lstStyle/>
          <a:p>
            <a:pPr algn="l">
              <a:lnSpc>
                <a:spcPct val="122000"/>
              </a:lnSpc>
              <a:spcBef>
                <a:spcPts val="0"/>
              </a:spcBef>
            </a:pPr>
            <a:r>
              <a:rPr lang="es-PE" sz="1450" b="0" spc="0" dirty="0">
                <a:solidFill>
                  <a:srgbClr val="4ADE80"/>
                </a:solidFill>
                <a:latin typeface="Consolas"/>
                <a:cs typeface="Consolas"/>
              </a:rPr>
              <a:t>1,25 - 1,5 L</a:t>
            </a:r>
          </a:p>
          <a:p>
            <a:pPr algn="l">
              <a:lnSpc>
                <a:spcPct val="122000"/>
              </a:lnSpc>
              <a:spcBef>
                <a:spcPts val="0"/>
              </a:spcBef>
            </a:pPr>
            <a:r>
              <a:rPr lang="es-PE" sz="1450" b="0" spc="0" dirty="0">
                <a:solidFill>
                  <a:srgbClr val="4ADE80"/>
                </a:solidFill>
                <a:latin typeface="Consolas"/>
                <a:cs typeface="Consolas"/>
              </a:rPr>
              <a:t>por kg perdido</a:t>
            </a:r>
          </a:p>
        </p:txBody>
      </p:sp>
      <p:sp>
        <p:nvSpPr>
          <p:cNvPr id="22" name="t22"/>
          <p:cNvSpPr txBox="1"/>
          <p:nvPr/>
        </p:nvSpPr>
        <p:spPr>
          <a:xfrm>
            <a:off x="9500616" y="3904488"/>
            <a:ext cx="1728216" cy="1097280"/>
          </a:xfrm>
          <a:prstGeom prst="rect">
            <a:avLst/>
          </a:prstGeom>
          <a:noFill/>
        </p:spPr>
        <p:txBody>
          <a:bodyPr wrap="square" lIns="0" tIns="0" rIns="0" bIns="0" anchor="t">
            <a:normAutofit/>
          </a:bodyPr>
          <a:lstStyle/>
          <a:p>
            <a:pPr algn="l">
              <a:lnSpc>
                <a:spcPct val="120000"/>
              </a:lnSpc>
              <a:spcBef>
                <a:spcPts val="0"/>
              </a:spcBef>
            </a:pPr>
            <a:r>
              <a:rPr lang="es-PE" sz="1100" b="0" spc="0" dirty="0">
                <a:solidFill>
                  <a:srgbClr val="9DB2B0"/>
                </a:solidFill>
                <a:latin typeface="Calibri"/>
                <a:cs typeface="Calibri"/>
              </a:rPr>
              <a:t>Pierdes 0,6 kg, tomas 750 a 900 ml extra. Total del día ~2,2 L.</a:t>
            </a:r>
          </a:p>
        </p:txBody>
      </p:sp>
      <p:sp>
        <p:nvSpPr>
          <p:cNvPr id="23" name="t23"/>
          <p:cNvSpPr txBox="1"/>
          <p:nvPr/>
        </p:nvSpPr>
        <p:spPr>
          <a:xfrm>
            <a:off x="685800" y="5440680"/>
            <a:ext cx="10789920" cy="365760"/>
          </a:xfrm>
          <a:prstGeom prst="rect">
            <a:avLst/>
          </a:prstGeom>
          <a:noFill/>
        </p:spPr>
        <p:txBody>
          <a:bodyPr wrap="square" lIns="0" tIns="0" rIns="0" bIns="0" anchor="t">
            <a:normAutofit/>
          </a:bodyPr>
          <a:lstStyle/>
          <a:p>
            <a:pPr algn="l">
              <a:lnSpc>
                <a:spcPct val="100000"/>
              </a:lnSpc>
              <a:spcBef>
                <a:spcPts val="0"/>
              </a:spcBef>
            </a:pPr>
            <a:r>
              <a:rPr lang="es-PE" sz="1400" b="1" spc="0" dirty="0">
                <a:solidFill>
                  <a:srgbClr val="3FC1C9"/>
                </a:solidFill>
                <a:latin typeface="Calibri"/>
                <a:cs typeface="Calibri"/>
              </a:rPr>
              <a:t>No te pesas para saber cuánto pesas: te pesas para saber cuánta agua perdiste.</a:t>
            </a:r>
          </a:p>
        </p:txBody>
      </p:sp>
      <p:sp>
        <p:nvSpPr>
          <p:cNvPr id="24" name="t24"/>
          <p:cNvSpPr txBox="1"/>
          <p:nvPr/>
        </p:nvSpPr>
        <p:spPr>
          <a:xfrm>
            <a:off x="685800" y="5943600"/>
            <a:ext cx="10789920" cy="640080"/>
          </a:xfrm>
          <a:prstGeom prst="rect">
            <a:avLst/>
          </a:prstGeom>
          <a:noFill/>
        </p:spPr>
        <p:txBody>
          <a:bodyPr wrap="square" lIns="0" tIns="0" rIns="0" bIns="0" anchor="t">
            <a:normAutofit/>
          </a:bodyPr>
          <a:lstStyle/>
          <a:p>
            <a:pPr algn="l">
              <a:lnSpc>
                <a:spcPct val="125000"/>
              </a:lnSpc>
              <a:spcBef>
                <a:spcPts val="0"/>
              </a:spcBef>
            </a:pPr>
            <a:r>
              <a:rPr lang="es-PE" sz="900" b="0" spc="0" dirty="0">
                <a:solidFill>
                  <a:srgbClr val="6B8286"/>
                </a:solidFill>
                <a:latin typeface="Consolas"/>
                <a:cs typeface="Consolas"/>
              </a:rPr>
              <a:t>Reposición de 1,25-1,5 L por kg: ACSM 2007. La regla de ml por kg es una regla clínica práctica (suele citarse 30-40 ml/kg de peso total); aquí se aplica sobre masa magra. Referencia independiente: la EFSA sitúa la ingesta adecuada en 2,1 L/día a los 9-13 años y 2,5 L desde los 14 en chicos (1,9-2,0 L en chicas), contando el agua de los alimentos.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4 · RECUPERACIÓN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V4</a:t>
            </a:r>
          </a:p>
        </p:txBody>
      </p:sp>
      <p:sp>
        <p:nvSpPr>
          <p:cNvPr id="6" name="t6"/>
          <p:cNvSpPr txBox="1"/>
          <p:nvPr/>
        </p:nvSpPr>
        <p:spPr>
          <a:xfrm>
            <a:off x="685800" y="1051560"/>
            <a:ext cx="6583680" cy="2194560"/>
          </a:xfrm>
          <a:prstGeom prst="rect">
            <a:avLst/>
          </a:prstGeom>
          <a:noFill/>
        </p:spPr>
        <p:txBody>
          <a:bodyPr wrap="square" lIns="0" tIns="0" rIns="0" bIns="0" anchor="t">
            <a:normAutofit/>
          </a:bodyPr>
          <a:lstStyle/>
          <a:p>
            <a:pPr algn="l">
              <a:lnSpc>
                <a:spcPct val="92000"/>
              </a:lnSpc>
              <a:spcBef>
                <a:spcPts val="0"/>
              </a:spcBef>
            </a:pPr>
            <a:r>
              <a:rPr lang="es-ES" sz="3600" b="1" dirty="0">
                <a:solidFill>
                  <a:srgbClr val="F2F6F4"/>
                </a:solidFill>
                <a:latin typeface="Arial Black"/>
                <a:cs typeface="Arial Black"/>
              </a:rPr>
              <a:t>¿</a:t>
            </a:r>
            <a:r>
              <a:rPr lang="es-PE" sz="3600" b="1" dirty="0">
                <a:solidFill>
                  <a:srgbClr val="F2F6F4"/>
                </a:solidFill>
                <a:latin typeface="Arial Black"/>
                <a:cs typeface="Arial Black"/>
              </a:rPr>
              <a:t>Qué comer después del entrenamiento?</a:t>
            </a:r>
            <a:endParaRPr lang="es-PE" sz="3600" b="1" spc="0" dirty="0">
              <a:solidFill>
                <a:srgbClr val="F2F6F4"/>
              </a:solidFill>
              <a:latin typeface="Arial Black"/>
              <a:cs typeface="Arial Black"/>
            </a:endParaRPr>
          </a:p>
        </p:txBody>
      </p:sp>
      <p:sp>
        <p:nvSpPr>
          <p:cNvPr id="7" name="t7"/>
          <p:cNvSpPr txBox="1"/>
          <p:nvPr/>
        </p:nvSpPr>
        <p:spPr>
          <a:xfrm>
            <a:off x="685800" y="3657600"/>
            <a:ext cx="6035040" cy="2103120"/>
          </a:xfrm>
          <a:prstGeom prst="rect">
            <a:avLst/>
          </a:prstGeom>
          <a:noFill/>
        </p:spPr>
        <p:txBody>
          <a:bodyPr wrap="square" lIns="0" tIns="0" rIns="0" bIns="0" anchor="t">
            <a:normAutofit/>
          </a:bodyPr>
          <a:lstStyle/>
          <a:p>
            <a:pPr algn="l">
              <a:lnSpc>
                <a:spcPct val="125000"/>
              </a:lnSpc>
              <a:spcBef>
                <a:spcPts val="0"/>
              </a:spcBef>
            </a:pPr>
            <a:r>
              <a:rPr lang="es-PE" sz="1550" b="0" spc="0" dirty="0">
                <a:solidFill>
                  <a:srgbClr val="FF5A36"/>
                </a:solidFill>
                <a:latin typeface="Calibri"/>
                <a:cs typeface="Calibri"/>
              </a:rPr>
              <a:t>Termina cuando comes. En las primeras 2 horas tu músculo es una esponja: absorbe y repara mejor que en todo el resto del día.</a:t>
            </a:r>
          </a:p>
        </p:txBody>
      </p:sp>
      <p:sp>
        <p:nvSpPr>
          <p:cNvPr id="8" name="f8"/>
          <p:cNvSpPr/>
          <p:nvPr/>
        </p:nvSpPr>
        <p:spPr>
          <a:xfrm>
            <a:off x="7406640" y="1143000"/>
            <a:ext cx="40690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9" name="t9"/>
          <p:cNvSpPr txBox="1"/>
          <p:nvPr/>
        </p:nvSpPr>
        <p:spPr>
          <a:xfrm>
            <a:off x="7772400" y="1600200"/>
            <a:ext cx="3337560" cy="3749040"/>
          </a:xfrm>
          <a:prstGeom prst="rect">
            <a:avLst/>
          </a:prstGeom>
          <a:noFill/>
        </p:spPr>
        <p:txBody>
          <a:bodyPr wrap="square" lIns="0" tIns="0" rIns="0" bIns="0" anchor="ctr">
            <a:normAutofit/>
          </a:bodyPr>
          <a:lstStyle/>
          <a:p>
            <a:pPr marL="180000" indent="-180000" algn="l">
              <a:lnSpc>
                <a:spcPct val="118000"/>
              </a:lnSpc>
              <a:spcBef>
                <a:spcPts val="900"/>
              </a:spcBef>
              <a:buClr>
                <a:srgbClr val="FF5A36"/>
              </a:buClr>
              <a:buSzPct val="90000"/>
              <a:buFont typeface="Arial"/>
              <a:buChar char="●"/>
            </a:pPr>
            <a:r>
              <a:rPr lang="es-PE" sz="1400" b="0" spc="0" dirty="0">
                <a:solidFill>
                  <a:srgbClr val="F2F6F4"/>
                </a:solidFill>
                <a:latin typeface="Calibri"/>
                <a:cs typeface="Calibri"/>
              </a:rPr>
              <a:t>Carbohidrato para volver a llenar la batería.</a:t>
            </a:r>
          </a:p>
          <a:p>
            <a:pPr marL="180000" indent="-180000" algn="l">
              <a:lnSpc>
                <a:spcPct val="118000"/>
              </a:lnSpc>
              <a:spcBef>
                <a:spcPts val="900"/>
              </a:spcBef>
              <a:buClr>
                <a:srgbClr val="FF5A36"/>
              </a:buClr>
              <a:buSzPct val="90000"/>
              <a:buFont typeface="Arial"/>
              <a:buChar char="●"/>
            </a:pPr>
            <a:r>
              <a:rPr lang="es-PE" sz="1400" b="0" spc="0" dirty="0">
                <a:solidFill>
                  <a:srgbClr val="F2F6F4"/>
                </a:solidFill>
                <a:latin typeface="Calibri"/>
                <a:cs typeface="Calibri"/>
              </a:rPr>
              <a:t>Proteína para reparar músculo y tendones.</a:t>
            </a:r>
          </a:p>
          <a:p>
            <a:pPr marL="180000" indent="-180000" algn="l">
              <a:lnSpc>
                <a:spcPct val="118000"/>
              </a:lnSpc>
              <a:spcBef>
                <a:spcPts val="900"/>
              </a:spcBef>
              <a:buClr>
                <a:srgbClr val="FF5A36"/>
              </a:buClr>
              <a:buSzPct val="90000"/>
              <a:buFont typeface="Arial"/>
              <a:buChar char="●"/>
            </a:pPr>
            <a:r>
              <a:rPr lang="es-PE" sz="1400" b="0" spc="0" dirty="0">
                <a:solidFill>
                  <a:srgbClr val="F2F6F4"/>
                </a:solidFill>
                <a:latin typeface="Calibri"/>
                <a:cs typeface="Calibri"/>
              </a:rPr>
              <a:t>Agua para reponer lo que sudaste.</a:t>
            </a:r>
          </a:p>
          <a:p>
            <a:pPr marL="180000" indent="-180000" algn="l">
              <a:lnSpc>
                <a:spcPct val="118000"/>
              </a:lnSpc>
              <a:spcBef>
                <a:spcPts val="900"/>
              </a:spcBef>
              <a:buClr>
                <a:srgbClr val="FF5A36"/>
              </a:buClr>
              <a:buSzPct val="90000"/>
              <a:buFont typeface="Arial"/>
              <a:buChar char="●"/>
            </a:pPr>
            <a:r>
              <a:rPr lang="es-PE" sz="1400" b="0" spc="0" dirty="0">
                <a:solidFill>
                  <a:srgbClr val="F2F6F4"/>
                </a:solidFill>
                <a:latin typeface="Calibri"/>
                <a:cs typeface="Calibri"/>
              </a:rPr>
              <a:t>Y dormir 8 a 10 horas.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4 · DINÁMICA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V4</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2900" b="1" spc="0" dirty="0">
                <a:solidFill>
                  <a:srgbClr val="F2F6F4"/>
                </a:solidFill>
                <a:latin typeface="Arial Black"/>
                <a:cs typeface="Arial Black"/>
              </a:rPr>
              <a:t>SALES DEL GYM A LAS 9PM. ¿QUÉ ELIGES?</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Voten dos a mano alzada. Después revelamos.</a:t>
            </a:r>
          </a:p>
        </p:txBody>
      </p:sp>
      <p:sp>
        <p:nvSpPr>
          <p:cNvPr id="8" name="f8"/>
          <p:cNvSpPr/>
          <p:nvPr/>
        </p:nvSpPr>
        <p:spPr>
          <a:xfrm>
            <a:off x="685800"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9" name="t9"/>
          <p:cNvSpPr txBox="1"/>
          <p:nvPr/>
        </p:nvSpPr>
        <p:spPr>
          <a:xfrm>
            <a:off x="941832"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POLLO CON ARROZ</a:t>
            </a:r>
          </a:p>
        </p:txBody>
      </p:sp>
      <p:sp>
        <p:nvSpPr>
          <p:cNvPr id="10" name="t10"/>
          <p:cNvSpPr txBox="1"/>
          <p:nvPr/>
        </p:nvSpPr>
        <p:spPr>
          <a:xfrm>
            <a:off x="941832"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La mejor. Recarga y repara al mismo tiempo.</a:t>
            </a:r>
          </a:p>
        </p:txBody>
      </p:sp>
      <p:sp>
        <p:nvSpPr>
          <p:cNvPr id="11" name="f11"/>
          <p:cNvSpPr/>
          <p:nvPr/>
        </p:nvSpPr>
        <p:spPr>
          <a:xfrm>
            <a:off x="4370832"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2" name="t12"/>
          <p:cNvSpPr txBox="1"/>
          <p:nvPr/>
        </p:nvSpPr>
        <p:spPr>
          <a:xfrm>
            <a:off x="4626864"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BATIDO DE LECHE, PLÁTANO Y AVENA</a:t>
            </a:r>
          </a:p>
        </p:txBody>
      </p:sp>
      <p:sp>
        <p:nvSpPr>
          <p:cNvPr id="13" name="t13"/>
          <p:cNvSpPr txBox="1"/>
          <p:nvPr/>
        </p:nvSpPr>
        <p:spPr>
          <a:xfrm>
            <a:off x="4626864"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Excelente y rapidísimo. Ideal si llegas tarde.</a:t>
            </a:r>
          </a:p>
        </p:txBody>
      </p:sp>
      <p:sp>
        <p:nvSpPr>
          <p:cNvPr id="14" name="f14"/>
          <p:cNvSpPr/>
          <p:nvPr/>
        </p:nvSpPr>
        <p:spPr>
          <a:xfrm>
            <a:off x="8055864"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5" name="t15"/>
          <p:cNvSpPr txBox="1"/>
          <p:nvPr/>
        </p:nvSpPr>
        <p:spPr>
          <a:xfrm>
            <a:off x="8311896"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PAN CON ATÚN Y PALTA</a:t>
            </a:r>
          </a:p>
        </p:txBody>
      </p:sp>
      <p:sp>
        <p:nvSpPr>
          <p:cNvPr id="16" name="t16"/>
          <p:cNvSpPr txBox="1"/>
          <p:nvPr/>
        </p:nvSpPr>
        <p:spPr>
          <a:xfrm>
            <a:off x="8311896"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Muy buena. No cocinas y cumple las dos funciones.</a:t>
            </a:r>
          </a:p>
        </p:txBody>
      </p:sp>
      <p:sp>
        <p:nvSpPr>
          <p:cNvPr id="17" name="f17"/>
          <p:cNvSpPr/>
          <p:nvPr/>
        </p:nvSpPr>
        <p:spPr>
          <a:xfrm>
            <a:off x="685800"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8" name="t18"/>
          <p:cNvSpPr txBox="1"/>
          <p:nvPr/>
        </p:nvSpPr>
        <p:spPr>
          <a:xfrm>
            <a:off x="941832"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PAPAS FRITAS SOLAS</a:t>
            </a:r>
          </a:p>
        </p:txBody>
      </p:sp>
      <p:sp>
        <p:nvSpPr>
          <p:cNvPr id="19" name="t19"/>
          <p:cNvSpPr txBox="1"/>
          <p:nvPr/>
        </p:nvSpPr>
        <p:spPr>
          <a:xfrm>
            <a:off x="941832"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Llena, pero no repara nada.</a:t>
            </a:r>
          </a:p>
        </p:txBody>
      </p:sp>
      <p:sp>
        <p:nvSpPr>
          <p:cNvPr id="20" name="f20"/>
          <p:cNvSpPr/>
          <p:nvPr/>
        </p:nvSpPr>
        <p:spPr>
          <a:xfrm>
            <a:off x="4370832"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21" name="t21"/>
          <p:cNvSpPr txBox="1"/>
          <p:nvPr/>
        </p:nvSpPr>
        <p:spPr>
          <a:xfrm>
            <a:off x="4626864"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GASEOSA Y GALLETAS DULCES</a:t>
            </a:r>
          </a:p>
        </p:txBody>
      </p:sp>
      <p:sp>
        <p:nvSpPr>
          <p:cNvPr id="22" name="t22"/>
          <p:cNvSpPr txBox="1"/>
          <p:nvPr/>
        </p:nvSpPr>
        <p:spPr>
          <a:xfrm>
            <a:off x="4626864"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Azúcar sin proteína. Recarga a medias.</a:t>
            </a:r>
          </a:p>
        </p:txBody>
      </p:sp>
      <p:sp>
        <p:nvSpPr>
          <p:cNvPr id="23" name="f23"/>
          <p:cNvSpPr/>
          <p:nvPr/>
        </p:nvSpPr>
        <p:spPr>
          <a:xfrm>
            <a:off x="8055864"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24" name="t24"/>
          <p:cNvSpPr txBox="1"/>
          <p:nvPr/>
        </p:nvSpPr>
        <p:spPr>
          <a:xfrm>
            <a:off x="8311896"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SOLO UNA ENSALADA</a:t>
            </a:r>
          </a:p>
        </p:txBody>
      </p:sp>
      <p:sp>
        <p:nvSpPr>
          <p:cNvPr id="25" name="t25"/>
          <p:cNvSpPr txBox="1"/>
          <p:nvPr/>
        </p:nvSpPr>
        <p:spPr>
          <a:xfrm>
            <a:off x="8311896"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Sana, pero te deja sin recarga. Falta arroz y pollo.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5 · DEDOS Y HUESOS</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V5</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EL HUESO SE CONSTRUYE AHORA</a:t>
            </a:r>
          </a:p>
        </p:txBody>
      </p:sp>
      <p:sp>
        <p:nvSpPr>
          <p:cNvPr id="7" name="t7"/>
          <p:cNvSpPr txBox="1"/>
          <p:nvPr/>
        </p:nvSpPr>
        <p:spPr>
          <a:xfrm>
            <a:off x="685800" y="1737360"/>
            <a:ext cx="10789920" cy="411480"/>
          </a:xfrm>
          <a:prstGeom prst="rect">
            <a:avLst/>
          </a:prstGeom>
          <a:noFill/>
        </p:spPr>
        <p:txBody>
          <a:bodyPr wrap="square" lIns="0" tIns="0" rIns="0" bIns="0" anchor="t">
            <a:normAutofit lnSpcReduction="10000"/>
          </a:bodyPr>
          <a:lstStyle/>
          <a:p>
            <a:pPr algn="l">
              <a:lnSpc>
                <a:spcPct val="100000"/>
              </a:lnSpc>
              <a:spcBef>
                <a:spcPts val="0"/>
              </a:spcBef>
            </a:pPr>
            <a:r>
              <a:rPr lang="es-PE" sz="1400" b="0" spc="0" dirty="0">
                <a:solidFill>
                  <a:srgbClr val="9DB2B0"/>
                </a:solidFill>
                <a:latin typeface="Calibri"/>
                <a:cs typeface="Calibri"/>
              </a:rPr>
              <a:t>Cerca del 90 % de la masa ósea que tendrás en tu vida se acumula al final de la adolescencia: hacia los 18 años en chicas y los 20 en chicos. Esta ventana no se repite.</a:t>
            </a:r>
          </a:p>
        </p:txBody>
      </p:sp>
      <p:sp>
        <p:nvSpPr>
          <p:cNvPr id="8" name="t8"/>
          <p:cNvSpPr txBox="1"/>
          <p:nvPr/>
        </p:nvSpPr>
        <p:spPr>
          <a:xfrm>
            <a:off x="685800" y="2212848"/>
            <a:ext cx="10789920" cy="27432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Weaver et al., Osteoporosis International 2016 — National Osteoporosis Foundation</a:t>
            </a:r>
          </a:p>
        </p:txBody>
      </p:sp>
      <p:sp>
        <p:nvSpPr>
          <p:cNvPr id="9" name="f9"/>
          <p:cNvSpPr/>
          <p:nvPr/>
        </p:nvSpPr>
        <p:spPr>
          <a:xfrm>
            <a:off x="685800"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0" name="t10"/>
          <p:cNvSpPr txBox="1"/>
          <p:nvPr/>
        </p:nvSpPr>
        <p:spPr>
          <a:xfrm>
            <a:off x="941832"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CALCIO</a:t>
            </a:r>
          </a:p>
        </p:txBody>
      </p:sp>
      <p:sp>
        <p:nvSpPr>
          <p:cNvPr id="11" name="t11"/>
          <p:cNvSpPr txBox="1"/>
          <p:nvPr/>
        </p:nvSpPr>
        <p:spPr>
          <a:xfrm>
            <a:off x="941832"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Leche, yogurt, queso fresco, frutos secos, </a:t>
            </a:r>
            <a:r>
              <a:rPr lang="es-PE" sz="1200" b="0" spc="0" dirty="0" err="1">
                <a:solidFill>
                  <a:srgbClr val="9DB2B0"/>
                </a:solidFill>
                <a:latin typeface="Calibri"/>
                <a:cs typeface="Calibri"/>
              </a:rPr>
              <a:t>chia</a:t>
            </a:r>
            <a:r>
              <a:rPr lang="es-PE" sz="1200" b="0" spc="0" dirty="0">
                <a:solidFill>
                  <a:srgbClr val="9DB2B0"/>
                </a:solidFill>
                <a:latin typeface="Calibri"/>
                <a:cs typeface="Calibri"/>
              </a:rPr>
              <a:t>, </a:t>
            </a:r>
            <a:r>
              <a:rPr lang="es-PE" sz="1200" b="0" spc="0" dirty="0" err="1">
                <a:solidFill>
                  <a:srgbClr val="9DB2B0"/>
                </a:solidFill>
                <a:latin typeface="Calibri"/>
                <a:cs typeface="Calibri"/>
              </a:rPr>
              <a:t>linazakiwicha</a:t>
            </a:r>
            <a:r>
              <a:rPr lang="es-PE" sz="1200" b="0" spc="0" dirty="0">
                <a:solidFill>
                  <a:srgbClr val="9DB2B0"/>
                </a:solidFill>
                <a:latin typeface="Calibri"/>
                <a:cs typeface="Calibri"/>
              </a:rPr>
              <a:t>, brócoli.</a:t>
            </a:r>
          </a:p>
        </p:txBody>
      </p:sp>
      <p:sp>
        <p:nvSpPr>
          <p:cNvPr id="12" name="f12"/>
          <p:cNvSpPr/>
          <p:nvPr/>
        </p:nvSpPr>
        <p:spPr>
          <a:xfrm>
            <a:off x="3538728"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3" name="t13"/>
          <p:cNvSpPr txBox="1"/>
          <p:nvPr/>
        </p:nvSpPr>
        <p:spPr>
          <a:xfrm>
            <a:off x="3794760"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VITAMINA D</a:t>
            </a:r>
          </a:p>
        </p:txBody>
      </p:sp>
      <p:sp>
        <p:nvSpPr>
          <p:cNvPr id="14" name="t14"/>
          <p:cNvSpPr txBox="1"/>
          <p:nvPr/>
        </p:nvSpPr>
        <p:spPr>
          <a:xfrm>
            <a:off x="3794760"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15 minutos de sol en brazos y piernas. En Lima gris cuesta más: no la des por hecha.</a:t>
            </a:r>
          </a:p>
        </p:txBody>
      </p:sp>
      <p:sp>
        <p:nvSpPr>
          <p:cNvPr id="15" name="f15"/>
          <p:cNvSpPr/>
          <p:nvPr/>
        </p:nvSpPr>
        <p:spPr>
          <a:xfrm>
            <a:off x="6391656"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6" name="t16"/>
          <p:cNvSpPr txBox="1"/>
          <p:nvPr/>
        </p:nvSpPr>
        <p:spPr>
          <a:xfrm>
            <a:off x="6647688"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PROTEÍNA</a:t>
            </a:r>
          </a:p>
        </p:txBody>
      </p:sp>
      <p:sp>
        <p:nvSpPr>
          <p:cNvPr id="17" name="t17"/>
          <p:cNvSpPr txBox="1"/>
          <p:nvPr/>
        </p:nvSpPr>
        <p:spPr>
          <a:xfrm>
            <a:off x="6647688"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Huevo, pollo, atún, lácteos, menestras. </a:t>
            </a:r>
          </a:p>
        </p:txBody>
      </p:sp>
      <p:sp>
        <p:nvSpPr>
          <p:cNvPr id="18" name="f18"/>
          <p:cNvSpPr/>
          <p:nvPr/>
        </p:nvSpPr>
        <p:spPr>
          <a:xfrm>
            <a:off x="9244584" y="2697480"/>
            <a:ext cx="224028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9" name="t19"/>
          <p:cNvSpPr txBox="1"/>
          <p:nvPr/>
        </p:nvSpPr>
        <p:spPr>
          <a:xfrm>
            <a:off x="9500616" y="2953512"/>
            <a:ext cx="172821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ENERGÍA SUFICIENTE</a:t>
            </a:r>
          </a:p>
        </p:txBody>
      </p:sp>
      <p:sp>
        <p:nvSpPr>
          <p:cNvPr id="20" name="t20"/>
          <p:cNvSpPr txBox="1"/>
          <p:nvPr/>
        </p:nvSpPr>
        <p:spPr>
          <a:xfrm>
            <a:off x="9500616" y="3520440"/>
            <a:ext cx="172821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Si comes menos de lo que gastas, el cuerpo deja de invertir en hueso.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6 · SANGRE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V6</a:t>
            </a:r>
          </a:p>
        </p:txBody>
      </p:sp>
      <p:sp>
        <p:nvSpPr>
          <p:cNvPr id="6" name="t6"/>
          <p:cNvSpPr txBox="1"/>
          <p:nvPr/>
        </p:nvSpPr>
        <p:spPr>
          <a:xfrm>
            <a:off x="685800" y="1097280"/>
            <a:ext cx="5669280" cy="237744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2F6F4"/>
                </a:solidFill>
                <a:latin typeface="Arial Black"/>
                <a:cs typeface="Arial Black"/>
              </a:rPr>
              <a:t>SI TE FALTA </a:t>
            </a:r>
            <a:r>
              <a:rPr lang="es-PE" sz="3200" b="1" dirty="0">
                <a:solidFill>
                  <a:srgbClr val="F2F6F4"/>
                </a:solidFill>
                <a:latin typeface="Arial Black"/>
                <a:cs typeface="Arial Black"/>
              </a:rPr>
              <a:t>ENERGIA DESDE </a:t>
            </a:r>
            <a:r>
              <a:rPr lang="es-PE" sz="3200" b="1" spc="0" dirty="0">
                <a:solidFill>
                  <a:srgbClr val="F2F6F4"/>
                </a:solidFill>
                <a:latin typeface="Arial Black"/>
                <a:cs typeface="Arial Black"/>
              </a:rPr>
              <a:t>EL CALENTAMIENTO,</a:t>
            </a:r>
          </a:p>
          <a:p>
            <a:pPr algn="l">
              <a:lnSpc>
                <a:spcPct val="92000"/>
              </a:lnSpc>
              <a:spcBef>
                <a:spcPts val="0"/>
              </a:spcBef>
            </a:pPr>
            <a:r>
              <a:rPr lang="es-PE" sz="3200" b="1" spc="0" dirty="0">
                <a:solidFill>
                  <a:srgbClr val="F2F6F4"/>
                </a:solidFill>
                <a:latin typeface="Arial Black"/>
                <a:cs typeface="Arial Black"/>
              </a:rPr>
              <a:t>QUIZÁ NO ES TU E</a:t>
            </a:r>
            <a:r>
              <a:rPr lang="es-PE" sz="3200" b="1" dirty="0">
                <a:solidFill>
                  <a:srgbClr val="F2F6F4"/>
                </a:solidFill>
                <a:latin typeface="Arial Black"/>
                <a:cs typeface="Arial Black"/>
              </a:rPr>
              <a:t>NTRENAMIENTO.</a:t>
            </a:r>
            <a:endParaRPr lang="es-PE" sz="3200" b="1" spc="0" dirty="0">
              <a:solidFill>
                <a:srgbClr val="F2F6F4"/>
              </a:solidFill>
              <a:latin typeface="Arial Black"/>
              <a:cs typeface="Arial Black"/>
            </a:endParaRPr>
          </a:p>
        </p:txBody>
      </p:sp>
      <p:sp>
        <p:nvSpPr>
          <p:cNvPr id="7" name="t7"/>
          <p:cNvSpPr txBox="1"/>
          <p:nvPr/>
        </p:nvSpPr>
        <p:spPr>
          <a:xfrm>
            <a:off x="685800" y="3794760"/>
            <a:ext cx="5486400" cy="822960"/>
          </a:xfrm>
          <a:prstGeom prst="rect">
            <a:avLst/>
          </a:prstGeom>
          <a:noFill/>
        </p:spPr>
        <p:txBody>
          <a:bodyPr wrap="square" lIns="0" tIns="0" rIns="0" bIns="0" anchor="t">
            <a:normAutofit/>
          </a:bodyPr>
          <a:lstStyle/>
          <a:p>
            <a:pPr algn="l">
              <a:lnSpc>
                <a:spcPct val="100000"/>
              </a:lnSpc>
              <a:spcBef>
                <a:spcPts val="0"/>
              </a:spcBef>
            </a:pPr>
            <a:r>
              <a:rPr lang="es-PE" sz="2800" b="1" spc="0" dirty="0">
                <a:solidFill>
                  <a:srgbClr val="FF5A36"/>
                </a:solidFill>
                <a:latin typeface="Arial Black"/>
                <a:cs typeface="Arial Black"/>
              </a:rPr>
              <a:t>PUEDE SER HIERRO.</a:t>
            </a:r>
          </a:p>
        </p:txBody>
      </p:sp>
      <p:sp>
        <p:nvSpPr>
          <p:cNvPr id="8" name="f8"/>
          <p:cNvSpPr/>
          <p:nvPr/>
        </p:nvSpPr>
        <p:spPr>
          <a:xfrm>
            <a:off x="685800" y="4754880"/>
            <a:ext cx="5486400" cy="12802"/>
          </a:xfrm>
          <a:prstGeom prst="rect">
            <a:avLst/>
          </a:prstGeom>
          <a:solidFill>
            <a:srgbClr val="2B4149"/>
          </a:solidFill>
          <a:ln>
            <a:noFill/>
          </a:ln>
        </p:spPr>
        <p:txBody>
          <a:bodyPr/>
          <a:lstStyle/>
          <a:p>
            <a:endParaRPr lang="es-PE"/>
          </a:p>
        </p:txBody>
      </p:sp>
      <p:sp>
        <p:nvSpPr>
          <p:cNvPr id="9" name="t9"/>
          <p:cNvSpPr txBox="1"/>
          <p:nvPr/>
        </p:nvSpPr>
        <p:spPr>
          <a:xfrm>
            <a:off x="685800" y="4956048"/>
            <a:ext cx="1508760" cy="822960"/>
          </a:xfrm>
          <a:prstGeom prst="rect">
            <a:avLst/>
          </a:prstGeom>
          <a:noFill/>
        </p:spPr>
        <p:txBody>
          <a:bodyPr wrap="square" lIns="0" tIns="0" rIns="0" bIns="0" anchor="t">
            <a:normAutofit/>
          </a:bodyPr>
          <a:lstStyle/>
          <a:p>
            <a:pPr algn="l">
              <a:lnSpc>
                <a:spcPct val="100000"/>
              </a:lnSpc>
              <a:spcBef>
                <a:spcPts val="0"/>
              </a:spcBef>
            </a:pPr>
            <a:r>
              <a:rPr lang="es-PE" sz="3800" b="1" spc="0" dirty="0">
                <a:solidFill>
                  <a:srgbClr val="FF4D5E"/>
                </a:solidFill>
                <a:latin typeface="Arial Black"/>
                <a:cs typeface="Arial Black"/>
              </a:rPr>
              <a:t>25%</a:t>
            </a:r>
          </a:p>
        </p:txBody>
      </p:sp>
      <p:sp>
        <p:nvSpPr>
          <p:cNvPr id="10" name="t10"/>
          <p:cNvSpPr txBox="1"/>
          <p:nvPr/>
        </p:nvSpPr>
        <p:spPr>
          <a:xfrm>
            <a:off x="2286000" y="4983480"/>
            <a:ext cx="3886200" cy="548640"/>
          </a:xfrm>
          <a:prstGeom prst="rect">
            <a:avLst/>
          </a:prstGeom>
          <a:noFill/>
        </p:spPr>
        <p:txBody>
          <a:bodyPr wrap="square" lIns="0" tIns="0" rIns="0" bIns="0" anchor="t">
            <a:normAutofit/>
          </a:bodyPr>
          <a:lstStyle/>
          <a:p>
            <a:pPr algn="l">
              <a:lnSpc>
                <a:spcPct val="120000"/>
              </a:lnSpc>
              <a:spcBef>
                <a:spcPts val="0"/>
              </a:spcBef>
            </a:pPr>
            <a:r>
              <a:rPr lang="es-PE" sz="1300" b="0" spc="0" dirty="0">
                <a:solidFill>
                  <a:srgbClr val="F2F6F4"/>
                </a:solidFill>
                <a:latin typeface="Calibri"/>
                <a:cs typeface="Calibri"/>
              </a:rPr>
              <a:t>de las peruanas de 15 a 19 años tiene anemia. Una de cada cuatro.</a:t>
            </a:r>
          </a:p>
        </p:txBody>
      </p:sp>
      <p:sp>
        <p:nvSpPr>
          <p:cNvPr id="11" name="t11"/>
          <p:cNvSpPr txBox="1"/>
          <p:nvPr/>
        </p:nvSpPr>
        <p:spPr>
          <a:xfrm>
            <a:off x="2286000" y="5669280"/>
            <a:ext cx="3886200" cy="36576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ENDES 2023 · Hernández-Vásquez et al., RPMESP 2024</a:t>
            </a:r>
          </a:p>
        </p:txBody>
      </p:sp>
      <p:sp>
        <p:nvSpPr>
          <p:cNvPr id="12" name="f12"/>
          <p:cNvSpPr/>
          <p:nvPr/>
        </p:nvSpPr>
        <p:spPr>
          <a:xfrm>
            <a:off x="6720840" y="1143000"/>
            <a:ext cx="47548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13" name="t13"/>
          <p:cNvSpPr txBox="1"/>
          <p:nvPr/>
        </p:nvSpPr>
        <p:spPr>
          <a:xfrm>
            <a:off x="7086600" y="1463040"/>
            <a:ext cx="4023360" cy="3977640"/>
          </a:xfrm>
          <a:prstGeom prst="rect">
            <a:avLst/>
          </a:prstGeom>
          <a:noFill/>
        </p:spPr>
        <p:txBody>
          <a:bodyPr wrap="square" lIns="0" tIns="0" rIns="0" bIns="0" anchor="ctr">
            <a:normAutofit/>
          </a:bodyPr>
          <a:lstStyle/>
          <a:p>
            <a:pPr algn="l">
              <a:lnSpc>
                <a:spcPct val="125000"/>
              </a:lnSpc>
              <a:spcBef>
                <a:spcPts val="0"/>
              </a:spcBef>
            </a:pPr>
            <a:r>
              <a:rPr lang="es-PE" sz="1400" b="0" spc="0" dirty="0">
                <a:solidFill>
                  <a:srgbClr val="9DB2B0"/>
                </a:solidFill>
                <a:latin typeface="Calibri"/>
                <a:cs typeface="Calibri"/>
              </a:rPr>
              <a:t>El hierro lleva oxígeno a tus músculos. Sin él te cansas rápido, te falta el aire, te mareas y no rindes aunque entrenes igual.</a:t>
            </a:r>
          </a:p>
          <a:p>
            <a:pPr algn="l">
              <a:lnSpc>
                <a:spcPct val="125000"/>
              </a:lnSpc>
              <a:spcBef>
                <a:spcPts val="1400"/>
              </a:spcBef>
            </a:pPr>
            <a:r>
              <a:rPr lang="es-PE" sz="1400" b="0" spc="0" dirty="0">
                <a:solidFill>
                  <a:srgbClr val="F2F6F4"/>
                </a:solidFill>
                <a:latin typeface="Calibri"/>
                <a:cs typeface="Calibri"/>
              </a:rPr>
              <a:t>Ojo, chicas: con la menstruación se pierde hierro todos los meses. Por eso son el grupo con más riesgo. </a:t>
            </a:r>
            <a:r>
              <a:rPr lang="es-PE" sz="1400" dirty="0">
                <a:solidFill>
                  <a:srgbClr val="F2F6F4"/>
                </a:solidFill>
                <a:latin typeface="Calibri"/>
                <a:cs typeface="Calibri"/>
              </a:rPr>
              <a:t>Monitorear  cada 6 meses cómo prevención y asegurar buena ingesta.</a:t>
            </a:r>
            <a:endParaRPr lang="es-PE" sz="1400" b="0" spc="0" dirty="0">
              <a:solidFill>
                <a:srgbClr val="F2F6F4"/>
              </a:solidFill>
              <a:latin typeface="Calibri"/>
              <a:cs typeface="Calibri"/>
            </a:endParaRPr>
          </a:p>
          <a:p>
            <a:pPr algn="l">
              <a:lnSpc>
                <a:spcPct val="125000"/>
              </a:lnSpc>
              <a:spcBef>
                <a:spcPts val="1400"/>
              </a:spcBef>
            </a:pPr>
            <a:r>
              <a:rPr lang="es-PE" sz="1400" b="0" spc="0" dirty="0">
                <a:solidFill>
                  <a:srgbClr val="FFC93C"/>
                </a:solidFill>
                <a:latin typeface="Calibri"/>
                <a:cs typeface="Calibri"/>
              </a:rPr>
              <a:t>Si te pasa seguido, pide en casa un análisis de hemoglobina y ferritina. Se resuelve.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6 · SANGRE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V6</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2F6F4"/>
                </a:solidFill>
                <a:latin typeface="Arial Black"/>
                <a:cs typeface="Arial Black"/>
              </a:rPr>
              <a:t>HIERRO PERUANO Y BARATO</a:t>
            </a:r>
          </a:p>
        </p:txBody>
      </p:sp>
      <p:sp>
        <p:nvSpPr>
          <p:cNvPr id="7" name="f7"/>
          <p:cNvSpPr/>
          <p:nvPr/>
        </p:nvSpPr>
        <p:spPr>
          <a:xfrm>
            <a:off x="685800"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8" name="t8"/>
          <p:cNvSpPr txBox="1"/>
          <p:nvPr/>
        </p:nvSpPr>
        <p:spPr>
          <a:xfrm>
            <a:off x="941832" y="258775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SANGRECITA, HIGADO</a:t>
            </a:r>
          </a:p>
        </p:txBody>
      </p:sp>
      <p:sp>
        <p:nvSpPr>
          <p:cNvPr id="9" name="t9"/>
          <p:cNvSpPr txBox="1"/>
          <p:nvPr/>
        </p:nvSpPr>
        <p:spPr>
          <a:xfrm>
            <a:off x="941832" y="3154680"/>
            <a:ext cx="2139696" cy="18288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Sí, da impresión. Y es de los alimentos con más hierro que existen. </a:t>
            </a:r>
            <a:r>
              <a:rPr lang="es-PE" sz="1200" dirty="0">
                <a:solidFill>
                  <a:srgbClr val="9DB2B0"/>
                </a:solidFill>
                <a:latin typeface="Calibri"/>
                <a:cs typeface="Calibri"/>
              </a:rPr>
              <a:t>Si es que suelen tener hierro bajo incorporarlos de vez en cuando es buena idea. </a:t>
            </a:r>
            <a:endParaRPr lang="es-PE" sz="1200" b="0" spc="0" dirty="0">
              <a:solidFill>
                <a:srgbClr val="9DB2B0"/>
              </a:solidFill>
              <a:latin typeface="Calibri"/>
              <a:cs typeface="Calibri"/>
            </a:endParaRPr>
          </a:p>
        </p:txBody>
      </p:sp>
      <p:sp>
        <p:nvSpPr>
          <p:cNvPr id="10" name="f10"/>
          <p:cNvSpPr/>
          <p:nvPr/>
        </p:nvSpPr>
        <p:spPr>
          <a:xfrm>
            <a:off x="3538728"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1" name="t11"/>
          <p:cNvSpPr txBox="1"/>
          <p:nvPr/>
        </p:nvSpPr>
        <p:spPr>
          <a:xfrm>
            <a:off x="3794760" y="2587752"/>
            <a:ext cx="2139696" cy="365760"/>
          </a:xfrm>
          <a:prstGeom prst="rect">
            <a:avLst/>
          </a:prstGeom>
          <a:noFill/>
        </p:spPr>
        <p:txBody>
          <a:bodyPr wrap="square" lIns="0" tIns="0" rIns="0" bIns="0" anchor="t">
            <a:normAutofit fontScale="85000" lnSpcReduction="10000"/>
          </a:bodyPr>
          <a:lstStyle/>
          <a:p>
            <a:pPr algn="l">
              <a:lnSpc>
                <a:spcPct val="95000"/>
              </a:lnSpc>
              <a:spcBef>
                <a:spcPts val="0"/>
              </a:spcBef>
            </a:pPr>
            <a:r>
              <a:rPr lang="es-ES" sz="1250" b="1" dirty="0">
                <a:solidFill>
                  <a:srgbClr val="FF5A36"/>
                </a:solidFill>
                <a:latin typeface="Arial Black"/>
                <a:cs typeface="Arial Black"/>
              </a:rPr>
              <a:t>CARNICOS (VACA, CERDO, POLLO, PESCADO)</a:t>
            </a:r>
            <a:endParaRPr lang="es-PE" sz="1250" b="1" spc="0" dirty="0">
              <a:solidFill>
                <a:srgbClr val="FF5A36"/>
              </a:solidFill>
              <a:latin typeface="Arial Black"/>
              <a:cs typeface="Arial Black"/>
            </a:endParaRPr>
          </a:p>
        </p:txBody>
      </p:sp>
      <p:sp>
        <p:nvSpPr>
          <p:cNvPr id="12" name="t12"/>
          <p:cNvSpPr txBox="1"/>
          <p:nvPr/>
        </p:nvSpPr>
        <p:spPr>
          <a:xfrm>
            <a:off x="3794760" y="3154680"/>
            <a:ext cx="2139696" cy="1828800"/>
          </a:xfrm>
          <a:prstGeom prst="rect">
            <a:avLst/>
          </a:prstGeom>
          <a:noFill/>
        </p:spPr>
        <p:txBody>
          <a:bodyPr wrap="square" lIns="0" tIns="0" rIns="0" bIns="0" anchor="t">
            <a:normAutofit/>
          </a:bodyPr>
          <a:lstStyle/>
          <a:p>
            <a:pPr algn="l">
              <a:lnSpc>
                <a:spcPct val="122000"/>
              </a:lnSpc>
              <a:spcBef>
                <a:spcPts val="0"/>
              </a:spcBef>
            </a:pPr>
            <a:r>
              <a:rPr lang="es-ES" sz="1200" b="0" spc="0" dirty="0">
                <a:solidFill>
                  <a:srgbClr val="9DB2B0"/>
                </a:solidFill>
                <a:latin typeface="Calibri"/>
                <a:cs typeface="Calibri"/>
              </a:rPr>
              <a:t>Carne roja puede ir 1 o 2 veces a la semana y el resto de días carnes blancas como pollo o pescado suele ir bien.</a:t>
            </a:r>
            <a:endParaRPr lang="es-PE" sz="1200" b="0" spc="0" dirty="0">
              <a:solidFill>
                <a:srgbClr val="9DB2B0"/>
              </a:solidFill>
              <a:latin typeface="Calibri"/>
              <a:cs typeface="Calibri"/>
            </a:endParaRPr>
          </a:p>
        </p:txBody>
      </p:sp>
      <p:sp>
        <p:nvSpPr>
          <p:cNvPr id="13" name="f13"/>
          <p:cNvSpPr/>
          <p:nvPr/>
        </p:nvSpPr>
        <p:spPr>
          <a:xfrm>
            <a:off x="6391656"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4" name="t14"/>
          <p:cNvSpPr txBox="1"/>
          <p:nvPr/>
        </p:nvSpPr>
        <p:spPr>
          <a:xfrm>
            <a:off x="6647688" y="258775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LENTEJAS Y FREJOLES</a:t>
            </a:r>
          </a:p>
        </p:txBody>
      </p:sp>
      <p:sp>
        <p:nvSpPr>
          <p:cNvPr id="15" name="t15"/>
          <p:cNvSpPr txBox="1"/>
          <p:nvPr/>
        </p:nvSpPr>
        <p:spPr>
          <a:xfrm>
            <a:off x="6647688" y="3154680"/>
            <a:ext cx="2139696" cy="1828800"/>
          </a:xfrm>
          <a:prstGeom prst="rect">
            <a:avLst/>
          </a:prstGeom>
          <a:noFill/>
        </p:spPr>
        <p:txBody>
          <a:bodyPr wrap="square" lIns="0" tIns="0" rIns="0" bIns="0" anchor="t">
            <a:normAutofit fontScale="92500"/>
          </a:bodyPr>
          <a:lstStyle/>
          <a:p>
            <a:pPr algn="l">
              <a:lnSpc>
                <a:spcPct val="122000"/>
              </a:lnSpc>
              <a:spcBef>
                <a:spcPts val="0"/>
              </a:spcBef>
            </a:pPr>
            <a:r>
              <a:rPr lang="es-PE" sz="1200" b="0" spc="0" dirty="0">
                <a:solidFill>
                  <a:srgbClr val="9DB2B0"/>
                </a:solidFill>
                <a:latin typeface="Calibri"/>
                <a:cs typeface="Calibri"/>
              </a:rPr>
              <a:t>.</a:t>
            </a:r>
            <a:r>
              <a:rPr lang="es-PE" sz="1200" dirty="0">
                <a:solidFill>
                  <a:srgbClr val="9DB2B0"/>
                </a:solidFill>
                <a:latin typeface="Calibri"/>
                <a:cs typeface="Calibri"/>
              </a:rPr>
              <a:t> Se subestima su capacidad de aumentar el hierro en sangre. Lo que es importante es complementarlo con algún alimento que contenga vitamina c, como brócoli, pimiento, jugo de naranja, limonada recién hecha, etc. Para mejorar su absorción en 2 a 6 x.</a:t>
            </a:r>
            <a:endParaRPr lang="es-PE" sz="1200" b="0" spc="0" dirty="0">
              <a:solidFill>
                <a:srgbClr val="9DB2B0"/>
              </a:solidFill>
              <a:latin typeface="Calibri"/>
              <a:cs typeface="Calibri"/>
            </a:endParaRPr>
          </a:p>
        </p:txBody>
      </p:sp>
      <p:sp>
        <p:nvSpPr>
          <p:cNvPr id="16" name="f16"/>
          <p:cNvSpPr/>
          <p:nvPr/>
        </p:nvSpPr>
        <p:spPr>
          <a:xfrm>
            <a:off x="9244584" y="2331720"/>
            <a:ext cx="224028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7" name="t17"/>
          <p:cNvSpPr txBox="1"/>
          <p:nvPr/>
        </p:nvSpPr>
        <p:spPr>
          <a:xfrm>
            <a:off x="9500616" y="2587752"/>
            <a:ext cx="172821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OJO: TÉ Y CAFÉ, LACTEO</a:t>
            </a:r>
          </a:p>
        </p:txBody>
      </p:sp>
      <p:sp>
        <p:nvSpPr>
          <p:cNvPr id="18" name="t18"/>
          <p:cNvSpPr txBox="1"/>
          <p:nvPr/>
        </p:nvSpPr>
        <p:spPr>
          <a:xfrm>
            <a:off x="9500616" y="3154680"/>
            <a:ext cx="1728216" cy="18288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Justo con la comida bloquean el hierro. Tómalos una hora después.</a:t>
            </a:r>
          </a:p>
          <a:p>
            <a:pPr algn="l">
              <a:lnSpc>
                <a:spcPct val="122000"/>
              </a:lnSpc>
              <a:spcBef>
                <a:spcPts val="0"/>
              </a:spcBef>
            </a:pPr>
            <a:r>
              <a:rPr lang="es-PE" sz="1200" dirty="0">
                <a:solidFill>
                  <a:srgbClr val="9DB2B0"/>
                </a:solidFill>
                <a:latin typeface="Calibri"/>
                <a:cs typeface="Calibri"/>
              </a:rPr>
              <a:t>El calcio compite con el hierro por un mismo sitio activo por lo que disminuye su utilización.</a:t>
            </a:r>
            <a:endParaRPr lang="es-PE" sz="1200" b="0" spc="0" dirty="0">
              <a:solidFill>
                <a:srgbClr val="9DB2B0"/>
              </a:solidFill>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EL MITO MÁS PELIGROSO DE LA ESCALADA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f6"/>
          <p:cNvSpPr/>
          <p:nvPr/>
        </p:nvSpPr>
        <p:spPr>
          <a:xfrm>
            <a:off x="685800" y="1143000"/>
            <a:ext cx="91440" cy="2286000"/>
          </a:xfrm>
          <a:prstGeom prst="rect">
            <a:avLst/>
          </a:prstGeom>
          <a:solidFill>
            <a:srgbClr val="FF5A36"/>
          </a:solidFill>
          <a:ln>
            <a:noFill/>
          </a:ln>
        </p:spPr>
        <p:txBody>
          <a:bodyPr/>
          <a:lstStyle/>
          <a:p>
            <a:endParaRPr lang="es-PE"/>
          </a:p>
        </p:txBody>
      </p:sp>
      <p:sp>
        <p:nvSpPr>
          <p:cNvPr id="7" name="t7"/>
          <p:cNvSpPr txBox="1"/>
          <p:nvPr/>
        </p:nvSpPr>
        <p:spPr>
          <a:xfrm>
            <a:off x="1051560" y="1143000"/>
            <a:ext cx="10424160" cy="2377440"/>
          </a:xfrm>
          <a:prstGeom prst="rect">
            <a:avLst/>
          </a:prstGeom>
          <a:noFill/>
        </p:spPr>
        <p:txBody>
          <a:bodyPr wrap="square" lIns="0" tIns="0" rIns="0" bIns="0" anchor="t">
            <a:normAutofit/>
          </a:bodyPr>
          <a:lstStyle/>
          <a:p>
            <a:pPr algn="l">
              <a:lnSpc>
                <a:spcPct val="92000"/>
              </a:lnSpc>
              <a:spcBef>
                <a:spcPts val="0"/>
              </a:spcBef>
            </a:pPr>
            <a:r>
              <a:rPr lang="es-PE" sz="5000" b="1" spc="0" dirty="0">
                <a:solidFill>
                  <a:srgbClr val="F2F6F4"/>
                </a:solidFill>
                <a:latin typeface="Arial Black"/>
                <a:cs typeface="Arial Black"/>
              </a:rPr>
              <a:t>«SI PESO MENOS,</a:t>
            </a:r>
          </a:p>
          <a:p>
            <a:pPr algn="l">
              <a:lnSpc>
                <a:spcPct val="92000"/>
              </a:lnSpc>
              <a:spcBef>
                <a:spcPts val="0"/>
              </a:spcBef>
            </a:pPr>
            <a:r>
              <a:rPr lang="es-PE" sz="5000" b="1" spc="0" dirty="0">
                <a:solidFill>
                  <a:srgbClr val="F2F6F4"/>
                </a:solidFill>
                <a:latin typeface="Arial Black"/>
                <a:cs typeface="Arial Black"/>
              </a:rPr>
              <a:t>ESCALO MÁS GRADO»</a:t>
            </a:r>
          </a:p>
        </p:txBody>
      </p:sp>
      <p:sp>
        <p:nvSpPr>
          <p:cNvPr id="8" name="t8"/>
          <p:cNvSpPr txBox="1"/>
          <p:nvPr/>
        </p:nvSpPr>
        <p:spPr>
          <a:xfrm>
            <a:off x="685800" y="3931920"/>
            <a:ext cx="5029200" cy="1463040"/>
          </a:xfrm>
          <a:prstGeom prst="rect">
            <a:avLst/>
          </a:prstGeom>
          <a:noFill/>
        </p:spPr>
        <p:txBody>
          <a:bodyPr wrap="square" lIns="0" tIns="0" rIns="0" bIns="0" anchor="t">
            <a:normAutofit/>
          </a:bodyPr>
          <a:lstStyle/>
          <a:p>
            <a:pPr algn="l">
              <a:lnSpc>
                <a:spcPct val="118000"/>
              </a:lnSpc>
              <a:spcBef>
                <a:spcPts val="0"/>
              </a:spcBef>
            </a:pPr>
            <a:r>
              <a:rPr lang="es-PE" sz="2000" b="1" spc="0" dirty="0">
                <a:solidFill>
                  <a:srgbClr val="FFC93C"/>
                </a:solidFill>
                <a:latin typeface="Calibri"/>
                <a:cs typeface="Calibri"/>
              </a:rPr>
              <a:t>Suena lógico. Y por unas semanas hasta parece cierto.</a:t>
            </a:r>
          </a:p>
        </p:txBody>
      </p:sp>
      <p:sp>
        <p:nvSpPr>
          <p:cNvPr id="9" name="t9"/>
          <p:cNvSpPr txBox="1"/>
          <p:nvPr/>
        </p:nvSpPr>
        <p:spPr>
          <a:xfrm>
            <a:off x="6263640" y="3931920"/>
            <a:ext cx="5212080" cy="2103120"/>
          </a:xfrm>
          <a:prstGeom prst="rect">
            <a:avLst/>
          </a:prstGeom>
          <a:noFill/>
        </p:spPr>
        <p:txBody>
          <a:bodyPr wrap="square" lIns="0" tIns="0" rIns="0" bIns="0" anchor="t">
            <a:normAutofit/>
          </a:bodyPr>
          <a:lstStyle/>
          <a:p>
            <a:pPr algn="l">
              <a:lnSpc>
                <a:spcPct val="125000"/>
              </a:lnSpc>
              <a:spcBef>
                <a:spcPts val="0"/>
              </a:spcBef>
            </a:pPr>
            <a:r>
              <a:rPr lang="es-PE" sz="1450" b="0" spc="0" dirty="0">
                <a:solidFill>
                  <a:srgbClr val="9DB2B0"/>
                </a:solidFill>
                <a:latin typeface="Calibri"/>
                <a:cs typeface="Calibri"/>
              </a:rPr>
              <a:t>Es la idea que más carreras de escaladores jóvenes ha arruinado en el mundo. Funciona un rato, y después cobra todo junto. A tu edad tu cuerpo construye hueso, músculo y estatura al mismo tiempo que entrena.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ESTO NO ES OPINIÓN MÍA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LO QUE ENCONTRARON LOS ESTUDIOS</a:t>
            </a:r>
          </a:p>
        </p:txBody>
      </p:sp>
      <p:sp>
        <p:nvSpPr>
          <p:cNvPr id="7" name="t7"/>
          <p:cNvSpPr txBox="1"/>
          <p:nvPr/>
        </p:nvSpPr>
        <p:spPr>
          <a:xfrm>
            <a:off x="685800"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4D5E"/>
                </a:solidFill>
                <a:latin typeface="Arial Black"/>
                <a:cs typeface="Arial Black"/>
              </a:rPr>
              <a:t>35,6%</a:t>
            </a:r>
          </a:p>
        </p:txBody>
      </p:sp>
      <p:sp>
        <p:nvSpPr>
          <p:cNvPr id="8" name="t8"/>
          <p:cNvSpPr txBox="1"/>
          <p:nvPr/>
        </p:nvSpPr>
        <p:spPr>
          <a:xfrm>
            <a:off x="685800"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los escaladores medidos comía menos energía de la que su cuerpo necesitaba. Solo el 8,9 % estaba en el rango óptimo.</a:t>
            </a:r>
          </a:p>
        </p:txBody>
      </p:sp>
      <p:sp>
        <p:nvSpPr>
          <p:cNvPr id="9" name="f9"/>
          <p:cNvSpPr/>
          <p:nvPr/>
        </p:nvSpPr>
        <p:spPr>
          <a:xfrm>
            <a:off x="685800" y="4956048"/>
            <a:ext cx="3429000" cy="12802"/>
          </a:xfrm>
          <a:prstGeom prst="rect">
            <a:avLst/>
          </a:prstGeom>
          <a:solidFill>
            <a:srgbClr val="2B4149"/>
          </a:solidFill>
          <a:ln>
            <a:noFill/>
          </a:ln>
        </p:spPr>
        <p:txBody>
          <a:bodyPr/>
          <a:lstStyle/>
          <a:p>
            <a:endParaRPr lang="es-PE"/>
          </a:p>
        </p:txBody>
      </p:sp>
      <p:sp>
        <p:nvSpPr>
          <p:cNvPr id="10" name="t10"/>
          <p:cNvSpPr txBox="1"/>
          <p:nvPr/>
        </p:nvSpPr>
        <p:spPr>
          <a:xfrm>
            <a:off x="685800"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Mora-Fernández et al., Nutrients 2024 · n = 46</a:t>
            </a:r>
          </a:p>
        </p:txBody>
      </p:sp>
      <p:sp>
        <p:nvSpPr>
          <p:cNvPr id="11" name="t11"/>
          <p:cNvSpPr txBox="1"/>
          <p:nvPr/>
        </p:nvSpPr>
        <p:spPr>
          <a:xfrm>
            <a:off x="4370832"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C93C"/>
                </a:solidFill>
                <a:latin typeface="Arial Black"/>
                <a:cs typeface="Arial Black"/>
              </a:rPr>
              <a:t>57,8%</a:t>
            </a:r>
          </a:p>
        </p:txBody>
      </p:sp>
      <p:sp>
        <p:nvSpPr>
          <p:cNvPr id="12" name="t12"/>
          <p:cNvSpPr txBox="1"/>
          <p:nvPr/>
        </p:nvSpPr>
        <p:spPr>
          <a:xfrm>
            <a:off x="4370832"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comía menos carbohidrato del mínimo recomendado para su deporte. Justo el combustible del boulder.</a:t>
            </a:r>
          </a:p>
        </p:txBody>
      </p:sp>
      <p:sp>
        <p:nvSpPr>
          <p:cNvPr id="13" name="f13"/>
          <p:cNvSpPr/>
          <p:nvPr/>
        </p:nvSpPr>
        <p:spPr>
          <a:xfrm>
            <a:off x="4370832" y="4956048"/>
            <a:ext cx="3429000" cy="12802"/>
          </a:xfrm>
          <a:prstGeom prst="rect">
            <a:avLst/>
          </a:prstGeom>
          <a:solidFill>
            <a:srgbClr val="2B4149"/>
          </a:solidFill>
          <a:ln>
            <a:noFill/>
          </a:ln>
        </p:spPr>
        <p:txBody>
          <a:bodyPr/>
          <a:lstStyle/>
          <a:p>
            <a:endParaRPr lang="es-PE"/>
          </a:p>
        </p:txBody>
      </p:sp>
      <p:sp>
        <p:nvSpPr>
          <p:cNvPr id="14" name="t14"/>
          <p:cNvSpPr txBox="1"/>
          <p:nvPr/>
        </p:nvSpPr>
        <p:spPr>
          <a:xfrm>
            <a:off x="4370832"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Mora-Fernández et al., Nutrients 2024 · n = 46</a:t>
            </a:r>
          </a:p>
        </p:txBody>
      </p:sp>
      <p:sp>
        <p:nvSpPr>
          <p:cNvPr id="15" name="t15"/>
          <p:cNvSpPr txBox="1"/>
          <p:nvPr/>
        </p:nvSpPr>
        <p:spPr>
          <a:xfrm>
            <a:off x="8055864"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4D5E"/>
                </a:solidFill>
                <a:latin typeface="Arial Black"/>
                <a:cs typeface="Arial Black"/>
              </a:rPr>
              <a:t>15,8%</a:t>
            </a:r>
          </a:p>
        </p:txBody>
      </p:sp>
      <p:sp>
        <p:nvSpPr>
          <p:cNvPr id="16" name="t16"/>
          <p:cNvSpPr txBox="1"/>
          <p:nvPr/>
        </p:nvSpPr>
        <p:spPr>
          <a:xfrm>
            <a:off x="8055864"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114 escaladoras de Copa del Mundo había perdido la menstruación. De ellas, el 22 % reportó un trastorno alimentario.</a:t>
            </a:r>
          </a:p>
        </p:txBody>
      </p:sp>
      <p:sp>
        <p:nvSpPr>
          <p:cNvPr id="17" name="f17"/>
          <p:cNvSpPr/>
          <p:nvPr/>
        </p:nvSpPr>
        <p:spPr>
          <a:xfrm>
            <a:off x="8055864" y="4956048"/>
            <a:ext cx="3429000" cy="12802"/>
          </a:xfrm>
          <a:prstGeom prst="rect">
            <a:avLst/>
          </a:prstGeom>
          <a:solidFill>
            <a:srgbClr val="2B4149"/>
          </a:solidFill>
          <a:ln>
            <a:noFill/>
          </a:ln>
        </p:spPr>
        <p:txBody>
          <a:bodyPr/>
          <a:lstStyle/>
          <a:p>
            <a:endParaRPr lang="es-PE"/>
          </a:p>
        </p:txBody>
      </p:sp>
      <p:sp>
        <p:nvSpPr>
          <p:cNvPr id="18" name="t18"/>
          <p:cNvSpPr txBox="1"/>
          <p:nvPr/>
        </p:nvSpPr>
        <p:spPr>
          <a:xfrm>
            <a:off x="8055864"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Joubert et al., Front Sports Act Living 2022 · n = 114</a:t>
            </a:r>
          </a:p>
        </p:txBody>
      </p:sp>
      <p:sp>
        <p:nvSpPr>
          <p:cNvPr id="19" name="t19"/>
          <p:cNvSpPr txBox="1"/>
          <p:nvPr/>
        </p:nvSpPr>
        <p:spPr>
          <a:xfrm>
            <a:off x="685800" y="5806440"/>
            <a:ext cx="10789920" cy="457200"/>
          </a:xfrm>
          <a:prstGeom prst="rect">
            <a:avLst/>
          </a:prstGeom>
          <a:noFill/>
        </p:spPr>
        <p:txBody>
          <a:bodyPr wrap="square" lIns="0" tIns="0" rIns="0" bIns="0" anchor="t">
            <a:normAutofit/>
          </a:bodyPr>
          <a:lstStyle/>
          <a:p>
            <a:pPr algn="l">
              <a:lnSpc>
                <a:spcPct val="100000"/>
              </a:lnSpc>
              <a:spcBef>
                <a:spcPts val="0"/>
              </a:spcBef>
            </a:pPr>
            <a:r>
              <a:rPr lang="es-PE" sz="1350" b="0" spc="0" dirty="0">
                <a:solidFill>
                  <a:srgbClr val="F2F6F4"/>
                </a:solidFill>
                <a:latin typeface="Calibri"/>
                <a:cs typeface="Calibri"/>
              </a:rPr>
              <a:t>No le pasa a gente descuidada: le pasa a los mejores del mundo. Porque este deporte premia estar ligero.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LO QUE PASA DE VERDAD</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SEIS MESES DESPUÉS</a:t>
            </a:r>
          </a:p>
        </p:txBody>
      </p:sp>
      <p:sp>
        <p:nvSpPr>
          <p:cNvPr id="7" name="f7"/>
          <p:cNvSpPr/>
          <p:nvPr/>
        </p:nvSpPr>
        <p:spPr>
          <a:xfrm>
            <a:off x="685800" y="1828800"/>
            <a:ext cx="5349240" cy="4023360"/>
          </a:xfrm>
          <a:prstGeom prst="roundRect">
            <a:avLst>
              <a:gd name="adj" fmla="val 4000"/>
            </a:avLst>
          </a:prstGeom>
          <a:solidFill>
            <a:srgbClr val="16232A"/>
          </a:solidFill>
          <a:ln w="12700">
            <a:solidFill>
              <a:srgbClr val="FF4D5E"/>
            </a:solidFill>
          </a:ln>
        </p:spPr>
        <p:txBody>
          <a:bodyPr/>
          <a:lstStyle/>
          <a:p>
            <a:endParaRPr lang="es-PE"/>
          </a:p>
        </p:txBody>
      </p:sp>
      <p:sp>
        <p:nvSpPr>
          <p:cNvPr id="8" name="t8"/>
          <p:cNvSpPr txBox="1"/>
          <p:nvPr/>
        </p:nvSpPr>
        <p:spPr>
          <a:xfrm>
            <a:off x="1051560" y="2148840"/>
            <a:ext cx="4617720" cy="685800"/>
          </a:xfrm>
          <a:prstGeom prst="rect">
            <a:avLst/>
          </a:prstGeom>
          <a:noFill/>
        </p:spPr>
        <p:txBody>
          <a:bodyPr wrap="square" lIns="0" tIns="0" rIns="0" bIns="0" anchor="t">
            <a:normAutofit/>
          </a:bodyPr>
          <a:lstStyle/>
          <a:p>
            <a:pPr algn="l">
              <a:lnSpc>
                <a:spcPct val="100000"/>
              </a:lnSpc>
              <a:spcBef>
                <a:spcPts val="0"/>
              </a:spcBef>
            </a:pPr>
            <a:r>
              <a:rPr lang="es-PE" sz="1350" b="1" spc="0" dirty="0">
                <a:solidFill>
                  <a:srgbClr val="FF4D5E"/>
                </a:solidFill>
                <a:latin typeface="Arial Black"/>
                <a:cs typeface="Arial Black"/>
              </a:rPr>
              <a:t>COMIÓ MENOS PARA PESAR MENOS</a:t>
            </a:r>
          </a:p>
        </p:txBody>
      </p:sp>
      <p:sp>
        <p:nvSpPr>
          <p:cNvPr id="9" name="t9"/>
          <p:cNvSpPr txBox="1"/>
          <p:nvPr/>
        </p:nvSpPr>
        <p:spPr>
          <a:xfrm>
            <a:off x="1051560" y="2971800"/>
            <a:ext cx="4617720" cy="2651760"/>
          </a:xfrm>
          <a:prstGeom prst="rect">
            <a:avLst/>
          </a:prstGeom>
          <a:noFill/>
        </p:spPr>
        <p:txBody>
          <a:bodyPr wrap="square" lIns="0" tIns="0" rIns="0" bIns="0" anchor="ctr">
            <a:normAutofit/>
          </a:bodyPr>
          <a:lstStyle/>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Pierde fuerza y potencia, no solo grasa</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Se estanca de grado y no entiende por qué</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Dedos, hombros y codos que no terminan de sanar</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Se enferma más seguido y duerme mal</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En chicas: la menstruación se atrasa o desaparece</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Deja de crecer y el hueso se vuelve frágil</a:t>
            </a:r>
          </a:p>
        </p:txBody>
      </p:sp>
      <p:sp>
        <p:nvSpPr>
          <p:cNvPr id="10" name="f10"/>
          <p:cNvSpPr/>
          <p:nvPr/>
        </p:nvSpPr>
        <p:spPr>
          <a:xfrm>
            <a:off x="6126480" y="1828800"/>
            <a:ext cx="5349240" cy="4023360"/>
          </a:xfrm>
          <a:prstGeom prst="roundRect">
            <a:avLst>
              <a:gd name="adj" fmla="val 4000"/>
            </a:avLst>
          </a:prstGeom>
          <a:solidFill>
            <a:srgbClr val="16232A"/>
          </a:solidFill>
          <a:ln w="12700">
            <a:solidFill>
              <a:srgbClr val="4ADE80"/>
            </a:solidFill>
          </a:ln>
        </p:spPr>
        <p:txBody>
          <a:bodyPr/>
          <a:lstStyle/>
          <a:p>
            <a:endParaRPr lang="es-PE"/>
          </a:p>
        </p:txBody>
      </p:sp>
      <p:sp>
        <p:nvSpPr>
          <p:cNvPr id="11" name="t11"/>
          <p:cNvSpPr txBox="1"/>
          <p:nvPr/>
        </p:nvSpPr>
        <p:spPr>
          <a:xfrm>
            <a:off x="6492240" y="2148840"/>
            <a:ext cx="4617720" cy="685800"/>
          </a:xfrm>
          <a:prstGeom prst="rect">
            <a:avLst/>
          </a:prstGeom>
          <a:noFill/>
        </p:spPr>
        <p:txBody>
          <a:bodyPr wrap="square" lIns="0" tIns="0" rIns="0" bIns="0" anchor="t">
            <a:normAutofit/>
          </a:bodyPr>
          <a:lstStyle/>
          <a:p>
            <a:pPr algn="l">
              <a:lnSpc>
                <a:spcPct val="100000"/>
              </a:lnSpc>
              <a:spcBef>
                <a:spcPts val="0"/>
              </a:spcBef>
            </a:pPr>
            <a:r>
              <a:rPr lang="es-PE" sz="1350" b="1" spc="0" dirty="0">
                <a:solidFill>
                  <a:srgbClr val="4ADE80"/>
                </a:solidFill>
                <a:latin typeface="Arial Black"/>
                <a:cs typeface="Arial Black"/>
              </a:rPr>
              <a:t>COMIÓ PARA ENTRENAR</a:t>
            </a:r>
          </a:p>
        </p:txBody>
      </p:sp>
      <p:sp>
        <p:nvSpPr>
          <p:cNvPr id="12" name="t12"/>
          <p:cNvSpPr txBox="1"/>
          <p:nvPr/>
        </p:nvSpPr>
        <p:spPr>
          <a:xfrm>
            <a:off x="6492240" y="2971800"/>
            <a:ext cx="4617720" cy="2651760"/>
          </a:xfrm>
          <a:prstGeom prst="rect">
            <a:avLst/>
          </a:prstGeom>
          <a:noFill/>
        </p:spPr>
        <p:txBody>
          <a:bodyPr wrap="square" lIns="0" tIns="0" rIns="0" bIns="0" anchor="ctr">
            <a:normAutofit/>
          </a:bodyPr>
          <a:lstStyle/>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Gana fuerza real, sesión tras sesión</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Aguanta hasta el intento donde el bloque cae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 recupera y vuelve al día siguiente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 lesiona menos y duerme bien</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Crece y se desarrolla como debe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Sigue escalando a los 20, a los 30, a los 40</a:t>
            </a:r>
          </a:p>
        </p:txBody>
      </p:sp>
      <p:sp>
        <p:nvSpPr>
          <p:cNvPr id="13" name="t13"/>
          <p:cNvSpPr txBox="1"/>
          <p:nvPr/>
        </p:nvSpPr>
        <p:spPr>
          <a:xfrm>
            <a:off x="685800" y="6035040"/>
            <a:ext cx="10789920" cy="457200"/>
          </a:xfrm>
          <a:prstGeom prst="rect">
            <a:avLst/>
          </a:prstGeom>
          <a:noFill/>
        </p:spPr>
        <p:txBody>
          <a:bodyPr wrap="square" lIns="0" tIns="0" rIns="0" bIns="0" anchor="t">
            <a:normAutofit/>
          </a:bodyPr>
          <a:lstStyle/>
          <a:p>
            <a:pPr algn="l">
              <a:lnSpc>
                <a:spcPct val="100000"/>
              </a:lnSpc>
              <a:spcBef>
                <a:spcPts val="0"/>
              </a:spcBef>
            </a:pPr>
            <a:r>
              <a:rPr lang="es-PE" sz="1400" b="0" spc="0" dirty="0">
                <a:solidFill>
                  <a:srgbClr val="F2F6F4"/>
                </a:solidFill>
                <a:latin typeface="Calibri"/>
                <a:cs typeface="Calibri"/>
              </a:rPr>
              <a:t>Los dos entrenan igual. Los dos quieren lo mismo. Solo uno va a seguir escalando dentro de tres años.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LLÉVATE ESTO</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f6"/>
          <p:cNvSpPr/>
          <p:nvPr/>
        </p:nvSpPr>
        <p:spPr>
          <a:xfrm>
            <a:off x="685800" y="1463040"/>
            <a:ext cx="109728" cy="3108960"/>
          </a:xfrm>
          <a:prstGeom prst="rect">
            <a:avLst/>
          </a:prstGeom>
          <a:solidFill>
            <a:srgbClr val="FF5A36"/>
          </a:solidFill>
          <a:ln>
            <a:noFill/>
          </a:ln>
        </p:spPr>
        <p:txBody>
          <a:bodyPr/>
          <a:lstStyle/>
          <a:p>
            <a:endParaRPr lang="es-PE"/>
          </a:p>
        </p:txBody>
      </p:sp>
      <p:sp>
        <p:nvSpPr>
          <p:cNvPr id="7" name="t7"/>
          <p:cNvSpPr txBox="1"/>
          <p:nvPr/>
        </p:nvSpPr>
        <p:spPr>
          <a:xfrm>
            <a:off x="1188720" y="1463040"/>
            <a:ext cx="10241280" cy="3200400"/>
          </a:xfrm>
          <a:prstGeom prst="rect">
            <a:avLst/>
          </a:prstGeom>
          <a:noFill/>
        </p:spPr>
        <p:txBody>
          <a:bodyPr wrap="square" lIns="0" tIns="0" rIns="0" bIns="0" anchor="t">
            <a:normAutofit/>
          </a:bodyPr>
          <a:lstStyle/>
          <a:p>
            <a:pPr algn="l">
              <a:lnSpc>
                <a:spcPct val="92000"/>
              </a:lnSpc>
              <a:spcBef>
                <a:spcPts val="0"/>
              </a:spcBef>
            </a:pPr>
            <a:r>
              <a:rPr lang="es-PE" sz="5400" b="1" spc="0" dirty="0">
                <a:solidFill>
                  <a:srgbClr val="F2F6F4"/>
                </a:solidFill>
                <a:latin typeface="Arial Black"/>
                <a:cs typeface="Arial Black"/>
              </a:rPr>
              <a:t>NO SE TRATA</a:t>
            </a:r>
          </a:p>
          <a:p>
            <a:pPr algn="l">
              <a:lnSpc>
                <a:spcPct val="92000"/>
              </a:lnSpc>
              <a:spcBef>
                <a:spcPts val="0"/>
              </a:spcBef>
            </a:pPr>
            <a:r>
              <a:rPr lang="es-PE" sz="5400" b="1" spc="0" dirty="0">
                <a:solidFill>
                  <a:srgbClr val="F2F6F4"/>
                </a:solidFill>
                <a:latin typeface="Arial Black"/>
                <a:cs typeface="Arial Black"/>
              </a:rPr>
              <a:t>DE PESAR MENOS.</a:t>
            </a:r>
          </a:p>
          <a:p>
            <a:pPr algn="l">
              <a:lnSpc>
                <a:spcPct val="92000"/>
              </a:lnSpc>
              <a:spcBef>
                <a:spcPts val="0"/>
              </a:spcBef>
            </a:pPr>
            <a:r>
              <a:rPr lang="es-PE" sz="5400" b="1" spc="0" dirty="0">
                <a:solidFill>
                  <a:srgbClr val="FF5A36"/>
                </a:solidFill>
                <a:latin typeface="Arial Black"/>
                <a:cs typeface="Arial Black"/>
              </a:rPr>
              <a:t>SE TRATA DE PODER MÁS.</a:t>
            </a:r>
          </a:p>
        </p:txBody>
      </p:sp>
      <p:sp>
        <p:nvSpPr>
          <p:cNvPr id="8" name="f8"/>
          <p:cNvSpPr/>
          <p:nvPr/>
        </p:nvSpPr>
        <p:spPr>
          <a:xfrm>
            <a:off x="685800" y="5029200"/>
            <a:ext cx="10789920" cy="18288"/>
          </a:xfrm>
          <a:prstGeom prst="rect">
            <a:avLst/>
          </a:prstGeom>
          <a:solidFill>
            <a:srgbClr val="2B4149"/>
          </a:solidFill>
          <a:ln>
            <a:noFill/>
          </a:ln>
        </p:spPr>
        <p:txBody>
          <a:bodyPr/>
          <a:lstStyle/>
          <a:p>
            <a:endParaRPr lang="es-PE"/>
          </a:p>
        </p:txBody>
      </p:sp>
      <p:sp>
        <p:nvSpPr>
          <p:cNvPr id="9" name="t9"/>
          <p:cNvSpPr txBox="1"/>
          <p:nvPr/>
        </p:nvSpPr>
        <p:spPr>
          <a:xfrm>
            <a:off x="685800" y="5303520"/>
            <a:ext cx="10058400" cy="914400"/>
          </a:xfrm>
          <a:prstGeom prst="rect">
            <a:avLst/>
          </a:prstGeom>
          <a:noFill/>
        </p:spPr>
        <p:txBody>
          <a:bodyPr wrap="square" lIns="0" tIns="0" rIns="0" bIns="0" anchor="t">
            <a:normAutofit/>
          </a:bodyPr>
          <a:lstStyle/>
          <a:p>
            <a:pPr algn="l">
              <a:lnSpc>
                <a:spcPct val="122000"/>
              </a:lnSpc>
              <a:spcBef>
                <a:spcPts val="0"/>
              </a:spcBef>
            </a:pPr>
            <a:r>
              <a:rPr lang="es-PE" sz="1700" b="0" spc="0" dirty="0">
                <a:solidFill>
                  <a:srgbClr val="9DB2B0"/>
                </a:solidFill>
                <a:latin typeface="Calibri"/>
                <a:cs typeface="Calibri"/>
              </a:rPr>
              <a:t>El escalador fuerte no es el más liviano de la sala. Es el que llega al intento seis con los dedos todavía respondiendo.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8 · DINÁMICA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V8</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2F6F4"/>
                </a:solidFill>
                <a:latin typeface="Arial Black"/>
                <a:cs typeface="Arial Black"/>
              </a:rPr>
              <a:t>MITO O VERDAD</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Voten primero a mano alzada. Después lees el veredicto.</a:t>
            </a:r>
          </a:p>
        </p:txBody>
      </p:sp>
      <p:sp>
        <p:nvSpPr>
          <p:cNvPr id="8" name="f8"/>
          <p:cNvSpPr/>
          <p:nvPr/>
        </p:nvSpPr>
        <p:spPr>
          <a:xfrm>
            <a:off x="685800"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9" name="t9"/>
          <p:cNvSpPr txBox="1"/>
          <p:nvPr/>
        </p:nvSpPr>
        <p:spPr>
          <a:xfrm>
            <a:off x="941832"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10" name="t10"/>
          <p:cNvSpPr txBox="1"/>
          <p:nvPr/>
        </p:nvSpPr>
        <p:spPr>
          <a:xfrm>
            <a:off x="941832"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El pan y el arroz engordan, mejor no comerlos antes de entrenar.</a:t>
            </a:r>
          </a:p>
        </p:txBody>
      </p:sp>
      <p:sp>
        <p:nvSpPr>
          <p:cNvPr id="11" name="t11"/>
          <p:cNvSpPr txBox="1"/>
          <p:nvPr/>
        </p:nvSpPr>
        <p:spPr>
          <a:xfrm>
            <a:off x="941832"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Son tu gasolina principal. Sin ellos escalas con la batería a la mitad.</a:t>
            </a:r>
          </a:p>
        </p:txBody>
      </p:sp>
      <p:sp>
        <p:nvSpPr>
          <p:cNvPr id="12" name="f12"/>
          <p:cNvSpPr/>
          <p:nvPr/>
        </p:nvSpPr>
        <p:spPr>
          <a:xfrm>
            <a:off x="4370832"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13" name="t13"/>
          <p:cNvSpPr txBox="1"/>
          <p:nvPr/>
        </p:nvSpPr>
        <p:spPr>
          <a:xfrm>
            <a:off x="4626864"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14" name="t14"/>
          <p:cNvSpPr txBox="1"/>
          <p:nvPr/>
        </p:nvSpPr>
        <p:spPr>
          <a:xfrm>
            <a:off x="4626864"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Si no como después de entrenar, quemo más grasa.</a:t>
            </a:r>
          </a:p>
        </p:txBody>
      </p:sp>
      <p:sp>
        <p:nvSpPr>
          <p:cNvPr id="15" name="t15"/>
          <p:cNvSpPr txBox="1"/>
          <p:nvPr/>
        </p:nvSpPr>
        <p:spPr>
          <a:xfrm>
            <a:off x="4626864"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Quemas músculo y llegas peor al siguiente entreno.</a:t>
            </a:r>
          </a:p>
        </p:txBody>
      </p:sp>
      <p:sp>
        <p:nvSpPr>
          <p:cNvPr id="16" name="f16"/>
          <p:cNvSpPr/>
          <p:nvPr/>
        </p:nvSpPr>
        <p:spPr>
          <a:xfrm>
            <a:off x="8055864"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17" name="t17"/>
          <p:cNvSpPr txBox="1"/>
          <p:nvPr/>
        </p:nvSpPr>
        <p:spPr>
          <a:xfrm>
            <a:off x="8311896"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4ADE80"/>
                </a:solidFill>
                <a:latin typeface="Arial Black"/>
                <a:cs typeface="Arial Black"/>
              </a:rPr>
              <a:t>VERDAD</a:t>
            </a:r>
          </a:p>
        </p:txBody>
      </p:sp>
      <p:sp>
        <p:nvSpPr>
          <p:cNvPr id="18" name="t18"/>
          <p:cNvSpPr txBox="1"/>
          <p:nvPr/>
        </p:nvSpPr>
        <p:spPr>
          <a:xfrm>
            <a:off x="8311896"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Dormir poco te hace perder fuerza y te lesiona más.</a:t>
            </a:r>
          </a:p>
        </p:txBody>
      </p:sp>
      <p:sp>
        <p:nvSpPr>
          <p:cNvPr id="19" name="t19"/>
          <p:cNvSpPr txBox="1"/>
          <p:nvPr/>
        </p:nvSpPr>
        <p:spPr>
          <a:xfrm>
            <a:off x="8311896"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Músculo y tendón se reparan mientras duermes. 8 a 10 horas.</a:t>
            </a:r>
          </a:p>
        </p:txBody>
      </p:sp>
      <p:sp>
        <p:nvSpPr>
          <p:cNvPr id="20" name="f20"/>
          <p:cNvSpPr/>
          <p:nvPr/>
        </p:nvSpPr>
        <p:spPr>
          <a:xfrm>
            <a:off x="685800"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1" name="t21"/>
          <p:cNvSpPr txBox="1"/>
          <p:nvPr/>
        </p:nvSpPr>
        <p:spPr>
          <a:xfrm>
            <a:off x="941832"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22" name="t22"/>
          <p:cNvSpPr txBox="1"/>
          <p:nvPr/>
        </p:nvSpPr>
        <p:spPr>
          <a:xfrm>
            <a:off x="941832"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Los deportistas necesitan muchísima más proteína que el resto.</a:t>
            </a:r>
          </a:p>
        </p:txBody>
      </p:sp>
      <p:sp>
        <p:nvSpPr>
          <p:cNvPr id="23" name="t23"/>
          <p:cNvSpPr txBox="1"/>
          <p:nvPr/>
        </p:nvSpPr>
        <p:spPr>
          <a:xfrm>
            <a:off x="941832"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Necesitas algo más, sí, pero con comida normal alcanza.</a:t>
            </a:r>
          </a:p>
        </p:txBody>
      </p:sp>
      <p:sp>
        <p:nvSpPr>
          <p:cNvPr id="24" name="f24"/>
          <p:cNvSpPr/>
          <p:nvPr/>
        </p:nvSpPr>
        <p:spPr>
          <a:xfrm>
            <a:off x="4370832"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5" name="t25"/>
          <p:cNvSpPr txBox="1"/>
          <p:nvPr/>
        </p:nvSpPr>
        <p:spPr>
          <a:xfrm>
            <a:off x="4626864"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26" name="t26"/>
          <p:cNvSpPr txBox="1"/>
          <p:nvPr/>
        </p:nvSpPr>
        <p:spPr>
          <a:xfrm>
            <a:off x="4626864"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Saltarse el desayuno te hace más ligero y escalas mejor.</a:t>
            </a:r>
          </a:p>
        </p:txBody>
      </p:sp>
      <p:sp>
        <p:nvSpPr>
          <p:cNvPr id="27" name="t27"/>
          <p:cNvSpPr txBox="1"/>
          <p:nvPr/>
        </p:nvSpPr>
        <p:spPr>
          <a:xfrm>
            <a:off x="4626864"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Llegas sin batería. Pierdes fuerza y concentración.</a:t>
            </a:r>
          </a:p>
        </p:txBody>
      </p:sp>
      <p:sp>
        <p:nvSpPr>
          <p:cNvPr id="28" name="f28"/>
          <p:cNvSpPr/>
          <p:nvPr/>
        </p:nvSpPr>
        <p:spPr>
          <a:xfrm>
            <a:off x="8055864"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9" name="t29"/>
          <p:cNvSpPr txBox="1"/>
          <p:nvPr/>
        </p:nvSpPr>
        <p:spPr>
          <a:xfrm>
            <a:off x="8311896"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4ADE80"/>
                </a:solidFill>
                <a:latin typeface="Arial Black"/>
                <a:cs typeface="Arial Black"/>
              </a:rPr>
              <a:t>VERDAD</a:t>
            </a:r>
          </a:p>
        </p:txBody>
      </p:sp>
      <p:sp>
        <p:nvSpPr>
          <p:cNvPr id="30" name="t30"/>
          <p:cNvSpPr txBox="1"/>
          <p:nvPr/>
        </p:nvSpPr>
        <p:spPr>
          <a:xfrm>
            <a:off x="8311896"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Tomar agua durante la sesión mejora tu agarre y tu cabeza.</a:t>
            </a:r>
          </a:p>
        </p:txBody>
      </p:sp>
      <p:sp>
        <p:nvSpPr>
          <p:cNvPr id="31" name="t31"/>
          <p:cNvSpPr txBox="1"/>
          <p:nvPr/>
        </p:nvSpPr>
        <p:spPr>
          <a:xfrm>
            <a:off x="8311896"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Con 2% de deshidratación ya bajan fuerza y concentración.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9 · DÍA DE COMPETENCIA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V9</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000" b="1" spc="0" dirty="0">
                <a:solidFill>
                  <a:srgbClr val="F2F6F4"/>
                </a:solidFill>
                <a:latin typeface="Arial Black"/>
                <a:cs typeface="Arial Black"/>
              </a:rPr>
              <a:t>LA BETERRAGA Y EL ÓXIDO NÍTRICO</a:t>
            </a:r>
          </a:p>
        </p:txBody>
      </p:sp>
      <p:sp>
        <p:nvSpPr>
          <p:cNvPr id="7" name="t7"/>
          <p:cNvSpPr txBox="1"/>
          <p:nvPr/>
        </p:nvSpPr>
        <p:spPr>
          <a:xfrm>
            <a:off x="685800" y="1920240"/>
            <a:ext cx="5486400" cy="2286000"/>
          </a:xfrm>
          <a:prstGeom prst="rect">
            <a:avLst/>
          </a:prstGeom>
          <a:noFill/>
        </p:spPr>
        <p:txBody>
          <a:bodyPr wrap="square" lIns="0" tIns="0" rIns="0" bIns="0" anchor="t">
            <a:normAutofit/>
          </a:bodyPr>
          <a:lstStyle/>
          <a:p>
            <a:pPr algn="l">
              <a:lnSpc>
                <a:spcPct val="122000"/>
              </a:lnSpc>
              <a:spcBef>
                <a:spcPts val="0"/>
              </a:spcBef>
            </a:pPr>
            <a:r>
              <a:rPr lang="es-PE" sz="1300" b="0" spc="0" dirty="0">
                <a:solidFill>
                  <a:srgbClr val="9DB2B0"/>
                </a:solidFill>
                <a:latin typeface="Calibri"/>
                <a:cs typeface="Calibri"/>
              </a:rPr>
              <a:t>La beterraga es de los alimentos con más nitrato. Las bacterias de tu boca lo convierten en nitrito, y tu cuerpo en óxido nítrico: una molécula que abre los vasos sanguíneos </a:t>
            </a:r>
          </a:p>
          <a:p>
            <a:pPr algn="l">
              <a:lnSpc>
                <a:spcPct val="122000"/>
              </a:lnSpc>
              <a:spcBef>
                <a:spcPts val="0"/>
              </a:spcBef>
            </a:pPr>
            <a:r>
              <a:rPr lang="es-PE" sz="1300" b="0" spc="0" dirty="0">
                <a:solidFill>
                  <a:srgbClr val="FFC93C"/>
                </a:solidFill>
                <a:latin typeface="Calibri"/>
                <a:cs typeface="Calibri"/>
              </a:rPr>
              <a:t>Para boulder importa por razones  concretas: acelera la recarga de fosfocreatina. El motor número 1, </a:t>
            </a:r>
            <a:r>
              <a:rPr lang="es-PE" sz="1300" dirty="0">
                <a:solidFill>
                  <a:srgbClr val="FFC93C"/>
                </a:solidFill>
                <a:latin typeface="Calibri"/>
                <a:cs typeface="Calibri"/>
              </a:rPr>
              <a:t>como también el uso de carbohidratos, motor número 2.</a:t>
            </a:r>
            <a:endParaRPr lang="es-PE" sz="1300" b="0" spc="0" dirty="0">
              <a:solidFill>
                <a:srgbClr val="FFC93C"/>
              </a:solidFill>
              <a:latin typeface="Calibri"/>
              <a:cs typeface="Calibri"/>
            </a:endParaRPr>
          </a:p>
        </p:txBody>
      </p:sp>
      <p:sp>
        <p:nvSpPr>
          <p:cNvPr id="8" name="t8"/>
          <p:cNvSpPr txBox="1"/>
          <p:nvPr/>
        </p:nvSpPr>
        <p:spPr>
          <a:xfrm>
            <a:off x="685800" y="4343400"/>
            <a:ext cx="5486400" cy="457200"/>
          </a:xfrm>
          <a:prstGeom prst="rect">
            <a:avLst/>
          </a:prstGeom>
          <a:noFill/>
        </p:spPr>
        <p:txBody>
          <a:bodyPr wrap="square" lIns="0" tIns="0" rIns="0" bIns="0" anchor="t">
            <a:normAutofit/>
          </a:bodyPr>
          <a:lstStyle/>
          <a:p>
            <a:pPr algn="l">
              <a:lnSpc>
                <a:spcPct val="125000"/>
              </a:lnSpc>
              <a:spcBef>
                <a:spcPts val="0"/>
              </a:spcBef>
            </a:pPr>
            <a:r>
              <a:rPr lang="es-PE" sz="950" b="0" spc="0" dirty="0">
                <a:solidFill>
                  <a:srgbClr val="6B8286"/>
                </a:solidFill>
                <a:latin typeface="Consolas"/>
                <a:cs typeface="Consolas"/>
              </a:rPr>
              <a:t>El Instituto Australiano del Deporte lo clasifica en el Grupo A: la categoría con mejor respaldo científico. Dosis de referencia: 6-8 mmol de nitrato, 2-3 h antes.</a:t>
            </a:r>
          </a:p>
        </p:txBody>
      </p:sp>
      <p:sp>
        <p:nvSpPr>
          <p:cNvPr id="9" name="t9"/>
          <p:cNvSpPr txBox="1"/>
          <p:nvPr/>
        </p:nvSpPr>
        <p:spPr>
          <a:xfrm>
            <a:off x="6720840" y="1920240"/>
            <a:ext cx="475488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C93C"/>
                </a:solidFill>
                <a:latin typeface="Arial Black"/>
                <a:cs typeface="Arial Black"/>
              </a:rPr>
              <a:t>+8,4%</a:t>
            </a:r>
          </a:p>
        </p:txBody>
      </p:sp>
      <p:sp>
        <p:nvSpPr>
          <p:cNvPr id="10" name="t10"/>
          <p:cNvSpPr txBox="1"/>
          <p:nvPr/>
        </p:nvSpPr>
        <p:spPr>
          <a:xfrm>
            <a:off x="6720840" y="2971800"/>
            <a:ext cx="4754880" cy="15087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fuerza de prensa manual en judocas adolescentes de 14 años, 2 h después de tomar jugo de beterraga. También +3 % de salto y +3,2 % de fuerza dorsal.</a:t>
            </a:r>
          </a:p>
        </p:txBody>
      </p:sp>
      <p:sp>
        <p:nvSpPr>
          <p:cNvPr id="11" name="f11"/>
          <p:cNvSpPr/>
          <p:nvPr/>
        </p:nvSpPr>
        <p:spPr>
          <a:xfrm>
            <a:off x="6720840" y="4498848"/>
            <a:ext cx="4754880" cy="12802"/>
          </a:xfrm>
          <a:prstGeom prst="rect">
            <a:avLst/>
          </a:prstGeom>
          <a:solidFill>
            <a:srgbClr val="2B4149"/>
          </a:solidFill>
          <a:ln>
            <a:noFill/>
          </a:ln>
        </p:spPr>
        <p:txBody>
          <a:bodyPr/>
          <a:lstStyle/>
          <a:p>
            <a:endParaRPr lang="es-PE"/>
          </a:p>
        </p:txBody>
      </p:sp>
      <p:sp>
        <p:nvSpPr>
          <p:cNvPr id="12" name="t12"/>
          <p:cNvSpPr txBox="1"/>
          <p:nvPr/>
        </p:nvSpPr>
        <p:spPr>
          <a:xfrm>
            <a:off x="6720840" y="4608576"/>
            <a:ext cx="475488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Demirli et al., Frontiers in Nutrition 2025 · n = 35, 14,2 ± 1,6 años</a:t>
            </a:r>
          </a:p>
        </p:txBody>
      </p:sp>
      <p:sp>
        <p:nvSpPr>
          <p:cNvPr id="13" name="f13"/>
          <p:cNvSpPr/>
          <p:nvPr/>
        </p:nvSpPr>
        <p:spPr>
          <a:xfrm>
            <a:off x="685800" y="5074920"/>
            <a:ext cx="10789920" cy="1371600"/>
          </a:xfrm>
          <a:prstGeom prst="roundRect">
            <a:avLst>
              <a:gd name="adj" fmla="val 5000"/>
            </a:avLst>
          </a:prstGeom>
          <a:solidFill>
            <a:srgbClr val="16232A"/>
          </a:solidFill>
          <a:ln w="12700">
            <a:solidFill>
              <a:srgbClr val="FFC93C"/>
            </a:solidFill>
          </a:ln>
        </p:spPr>
        <p:txBody>
          <a:bodyPr/>
          <a:lstStyle/>
          <a:p>
            <a:endParaRPr lang="es-PE"/>
          </a:p>
        </p:txBody>
      </p:sp>
      <p:sp>
        <p:nvSpPr>
          <p:cNvPr id="14" name="t14"/>
          <p:cNvSpPr txBox="1"/>
          <p:nvPr/>
        </p:nvSpPr>
        <p:spPr>
          <a:xfrm>
            <a:off x="1051560" y="5285232"/>
            <a:ext cx="10058400" cy="320040"/>
          </a:xfrm>
          <a:prstGeom prst="rect">
            <a:avLst/>
          </a:prstGeom>
          <a:noFill/>
        </p:spPr>
        <p:txBody>
          <a:bodyPr wrap="square" lIns="0" tIns="0" rIns="0" bIns="0" anchor="t">
            <a:normAutofit/>
          </a:bodyPr>
          <a:lstStyle/>
          <a:p>
            <a:pPr algn="l">
              <a:lnSpc>
                <a:spcPct val="100000"/>
              </a:lnSpc>
              <a:spcBef>
                <a:spcPts val="0"/>
              </a:spcBef>
            </a:pPr>
            <a:r>
              <a:rPr lang="es-ES" sz="1250" b="1" dirty="0">
                <a:solidFill>
                  <a:srgbClr val="FFC93C"/>
                </a:solidFill>
                <a:latin typeface="Arial Black"/>
                <a:cs typeface="Arial Black"/>
              </a:rPr>
              <a:t>¡H</a:t>
            </a:r>
            <a:r>
              <a:rPr lang="es-PE" sz="1250" b="1" dirty="0">
                <a:solidFill>
                  <a:srgbClr val="FFC93C"/>
                </a:solidFill>
                <a:latin typeface="Arial Black"/>
                <a:cs typeface="Arial Black"/>
              </a:rPr>
              <a:t>AY SUPLEMENTOS QUE PODEMOS REEMPLAZAR POR SUPERALIMENTOS!</a:t>
            </a:r>
            <a:endParaRPr lang="es-PE" sz="1250" b="1" spc="0" dirty="0">
              <a:solidFill>
                <a:srgbClr val="FFC93C"/>
              </a:solidFill>
              <a:latin typeface="Arial Black"/>
              <a:cs typeface="Arial Black"/>
            </a:endParaRPr>
          </a:p>
        </p:txBody>
      </p:sp>
      <p:sp>
        <p:nvSpPr>
          <p:cNvPr id="15" name="t15"/>
          <p:cNvSpPr txBox="1"/>
          <p:nvPr/>
        </p:nvSpPr>
        <p:spPr>
          <a:xfrm>
            <a:off x="1051560" y="5687568"/>
            <a:ext cx="10058400" cy="640080"/>
          </a:xfrm>
          <a:prstGeom prst="rect">
            <a:avLst/>
          </a:prstGeom>
          <a:noFill/>
        </p:spPr>
        <p:txBody>
          <a:bodyPr wrap="square" lIns="0" tIns="0" rIns="0" bIns="0" anchor="t">
            <a:normAutofit/>
          </a:bodyPr>
          <a:lstStyle/>
          <a:p>
            <a:pPr algn="l">
              <a:lnSpc>
                <a:spcPct val="120000"/>
              </a:lnSpc>
              <a:spcBef>
                <a:spcPts val="0"/>
              </a:spcBef>
            </a:pPr>
            <a:r>
              <a:rPr lang="es-ES" sz="1150" dirty="0">
                <a:solidFill>
                  <a:srgbClr val="F2F6F4"/>
                </a:solidFill>
                <a:latin typeface="Calibri"/>
                <a:cs typeface="Calibri"/>
              </a:rPr>
              <a:t>S</a:t>
            </a:r>
            <a:r>
              <a:rPr lang="es-PE" sz="1150" dirty="0" err="1">
                <a:solidFill>
                  <a:srgbClr val="F2F6F4"/>
                </a:solidFill>
                <a:latin typeface="Calibri"/>
                <a:cs typeface="Calibri"/>
              </a:rPr>
              <a:t>iempre</a:t>
            </a:r>
            <a:r>
              <a:rPr lang="es-PE" sz="1150" dirty="0">
                <a:solidFill>
                  <a:srgbClr val="F2F6F4"/>
                </a:solidFill>
                <a:latin typeface="Calibri"/>
                <a:cs typeface="Calibri"/>
              </a:rPr>
              <a:t> hay que pensar en que alimentos nos </a:t>
            </a:r>
            <a:r>
              <a:rPr lang="es-PE" sz="1150" dirty="0" err="1">
                <a:solidFill>
                  <a:srgbClr val="F2F6F4"/>
                </a:solidFill>
                <a:latin typeface="Calibri"/>
                <a:cs typeface="Calibri"/>
              </a:rPr>
              <a:t>puden</a:t>
            </a:r>
            <a:r>
              <a:rPr lang="es-PE" sz="1150" dirty="0">
                <a:solidFill>
                  <a:srgbClr val="F2F6F4"/>
                </a:solidFill>
                <a:latin typeface="Calibri"/>
                <a:cs typeface="Calibri"/>
              </a:rPr>
              <a:t> aportar nutrientes que nos lleven al siguiente nivel. En vez de pensar en que alimentos no debemos comer.  </a:t>
            </a:r>
          </a:p>
          <a:p>
            <a:pPr algn="l">
              <a:lnSpc>
                <a:spcPct val="120000"/>
              </a:lnSpc>
              <a:spcBef>
                <a:spcPts val="0"/>
              </a:spcBef>
            </a:pPr>
            <a:r>
              <a:rPr lang="es-PE" sz="1150" b="0" spc="0" dirty="0">
                <a:solidFill>
                  <a:srgbClr val="F2F6F4"/>
                </a:solidFill>
                <a:latin typeface="Calibri"/>
                <a:cs typeface="Calibri"/>
              </a:rPr>
              <a:t>Que mejoren la energía y la recuperación.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9 · DÍA DE COMPETENCIA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V9</a:t>
            </a:r>
          </a:p>
        </p:txBody>
      </p:sp>
      <p:sp>
        <p:nvSpPr>
          <p:cNvPr id="6" name="t6"/>
          <p:cNvSpPr txBox="1"/>
          <p:nvPr/>
        </p:nvSpPr>
        <p:spPr>
          <a:xfrm>
            <a:off x="685800" y="960120"/>
            <a:ext cx="10789920" cy="777240"/>
          </a:xfrm>
          <a:prstGeom prst="rect">
            <a:avLst/>
          </a:prstGeom>
          <a:noFill/>
        </p:spPr>
        <p:txBody>
          <a:bodyPr wrap="square" lIns="0" tIns="0" rIns="0" bIns="0" anchor="t">
            <a:normAutofit fontScale="92500" lnSpcReduction="20000"/>
          </a:bodyPr>
          <a:lstStyle/>
          <a:p>
            <a:pPr algn="l">
              <a:lnSpc>
                <a:spcPct val="100000"/>
              </a:lnSpc>
              <a:spcBef>
                <a:spcPts val="0"/>
              </a:spcBef>
            </a:pPr>
            <a:r>
              <a:rPr lang="es-PE" sz="3200" b="1" spc="0" dirty="0">
                <a:solidFill>
                  <a:schemeClr val="tx1"/>
                </a:solidFill>
                <a:latin typeface="Arial Black"/>
                <a:cs typeface="Arial Black"/>
              </a:rPr>
              <a:t>EL PRE COMPE PERFECTO…</a:t>
            </a:r>
          </a:p>
          <a:p>
            <a:pPr algn="l">
              <a:lnSpc>
                <a:spcPct val="100000"/>
              </a:lnSpc>
              <a:spcBef>
                <a:spcPts val="0"/>
              </a:spcBef>
            </a:pPr>
            <a:r>
              <a:rPr lang="es-PE" sz="3200" b="1" spc="0" dirty="0">
                <a:solidFill>
                  <a:srgbClr val="FFC93C"/>
                </a:solidFill>
                <a:latin typeface="Arial Black"/>
                <a:cs typeface="Arial Black"/>
              </a:rPr>
              <a:t>SHOT DE BETERRAGA</a:t>
            </a:r>
          </a:p>
        </p:txBody>
      </p:sp>
      <p:sp>
        <p:nvSpPr>
          <p:cNvPr id="7" name="t7"/>
          <p:cNvSpPr txBox="1"/>
          <p:nvPr/>
        </p:nvSpPr>
        <p:spPr>
          <a:xfrm>
            <a:off x="685800" y="19568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250 ml</a:t>
            </a:r>
          </a:p>
        </p:txBody>
      </p:sp>
      <p:sp>
        <p:nvSpPr>
          <p:cNvPr id="8" name="t8"/>
          <p:cNvSpPr txBox="1"/>
          <p:nvPr/>
        </p:nvSpPr>
        <p:spPr>
          <a:xfrm>
            <a:off x="2240280" y="19202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Extracto de beterraga cruda</a:t>
            </a:r>
          </a:p>
        </p:txBody>
      </p:sp>
      <p:sp>
        <p:nvSpPr>
          <p:cNvPr id="9" name="t9"/>
          <p:cNvSpPr txBox="1"/>
          <p:nvPr/>
        </p:nvSpPr>
        <p:spPr>
          <a:xfrm>
            <a:off x="2240280" y="22311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Una beterraga mediana licuada y colada. Es el ingrediente activo: el nitrato.</a:t>
            </a:r>
          </a:p>
        </p:txBody>
      </p:sp>
      <p:sp>
        <p:nvSpPr>
          <p:cNvPr id="10" name="f10"/>
          <p:cNvSpPr/>
          <p:nvPr/>
        </p:nvSpPr>
        <p:spPr>
          <a:xfrm>
            <a:off x="685800" y="2779776"/>
            <a:ext cx="5486400" cy="10973"/>
          </a:xfrm>
          <a:prstGeom prst="rect">
            <a:avLst/>
          </a:prstGeom>
          <a:solidFill>
            <a:srgbClr val="1E3138"/>
          </a:solidFill>
          <a:ln>
            <a:noFill/>
          </a:ln>
        </p:spPr>
        <p:txBody>
          <a:bodyPr/>
          <a:lstStyle/>
          <a:p>
            <a:endParaRPr lang="es-PE"/>
          </a:p>
        </p:txBody>
      </p:sp>
      <p:sp>
        <p:nvSpPr>
          <p:cNvPr id="11" name="t11"/>
          <p:cNvSpPr txBox="1"/>
          <p:nvPr/>
        </p:nvSpPr>
        <p:spPr>
          <a:xfrm>
            <a:off x="685800" y="28712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150 ml</a:t>
            </a:r>
          </a:p>
        </p:txBody>
      </p:sp>
      <p:sp>
        <p:nvSpPr>
          <p:cNvPr id="12" name="t12"/>
          <p:cNvSpPr txBox="1"/>
          <p:nvPr/>
        </p:nvSpPr>
        <p:spPr>
          <a:xfrm>
            <a:off x="2240280" y="28346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Jugo de naranja</a:t>
            </a:r>
          </a:p>
        </p:txBody>
      </p:sp>
      <p:sp>
        <p:nvSpPr>
          <p:cNvPr id="13" name="t13"/>
          <p:cNvSpPr txBox="1"/>
          <p:nvPr/>
        </p:nvSpPr>
        <p:spPr>
          <a:xfrm>
            <a:off x="2240280" y="31455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La vitamina C ayuda a convertir el nitrito en óxido nítrico. Y aporta carbohidrato.</a:t>
            </a:r>
          </a:p>
        </p:txBody>
      </p:sp>
      <p:sp>
        <p:nvSpPr>
          <p:cNvPr id="14" name="f14"/>
          <p:cNvSpPr/>
          <p:nvPr/>
        </p:nvSpPr>
        <p:spPr>
          <a:xfrm>
            <a:off x="685800" y="3694176"/>
            <a:ext cx="5486400" cy="10973"/>
          </a:xfrm>
          <a:prstGeom prst="rect">
            <a:avLst/>
          </a:prstGeom>
          <a:solidFill>
            <a:srgbClr val="1E3138"/>
          </a:solidFill>
          <a:ln>
            <a:noFill/>
          </a:ln>
        </p:spPr>
        <p:txBody>
          <a:bodyPr/>
          <a:lstStyle/>
          <a:p>
            <a:endParaRPr lang="es-PE"/>
          </a:p>
        </p:txBody>
      </p:sp>
      <p:sp>
        <p:nvSpPr>
          <p:cNvPr id="15" name="t15"/>
          <p:cNvSpPr txBox="1"/>
          <p:nvPr/>
        </p:nvSpPr>
        <p:spPr>
          <a:xfrm>
            <a:off x="685800" y="37856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 cucharada</a:t>
            </a:r>
          </a:p>
        </p:txBody>
      </p:sp>
      <p:sp>
        <p:nvSpPr>
          <p:cNvPr id="16" name="t16"/>
          <p:cNvSpPr txBox="1"/>
          <p:nvPr/>
        </p:nvSpPr>
        <p:spPr>
          <a:xfrm>
            <a:off x="2240280" y="37490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Miel de abeja</a:t>
            </a:r>
          </a:p>
        </p:txBody>
      </p:sp>
      <p:sp>
        <p:nvSpPr>
          <p:cNvPr id="17" name="t17"/>
          <p:cNvSpPr txBox="1"/>
          <p:nvPr/>
        </p:nvSpPr>
        <p:spPr>
          <a:xfrm>
            <a:off x="2240280" y="40599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Unos 17 g de carbohidrato rápido. Y hace que se pueda tomar.</a:t>
            </a:r>
          </a:p>
        </p:txBody>
      </p:sp>
      <p:sp>
        <p:nvSpPr>
          <p:cNvPr id="18" name="f18"/>
          <p:cNvSpPr/>
          <p:nvPr/>
        </p:nvSpPr>
        <p:spPr>
          <a:xfrm>
            <a:off x="685800" y="4608576"/>
            <a:ext cx="5486400" cy="10973"/>
          </a:xfrm>
          <a:prstGeom prst="rect">
            <a:avLst/>
          </a:prstGeom>
          <a:solidFill>
            <a:srgbClr val="1E3138"/>
          </a:solidFill>
          <a:ln>
            <a:noFill/>
          </a:ln>
        </p:spPr>
        <p:txBody>
          <a:bodyPr/>
          <a:lstStyle/>
          <a:p>
            <a:endParaRPr lang="es-PE"/>
          </a:p>
        </p:txBody>
      </p:sp>
      <p:sp>
        <p:nvSpPr>
          <p:cNvPr id="19" name="t19"/>
          <p:cNvSpPr txBox="1"/>
          <p:nvPr/>
        </p:nvSpPr>
        <p:spPr>
          <a:xfrm>
            <a:off x="685800" y="47000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 pizca</a:t>
            </a:r>
          </a:p>
        </p:txBody>
      </p:sp>
      <p:sp>
        <p:nvSpPr>
          <p:cNvPr id="20" name="t20"/>
          <p:cNvSpPr txBox="1"/>
          <p:nvPr/>
        </p:nvSpPr>
        <p:spPr>
          <a:xfrm>
            <a:off x="2240280" y="46634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Canela</a:t>
            </a:r>
          </a:p>
        </p:txBody>
      </p:sp>
      <p:sp>
        <p:nvSpPr>
          <p:cNvPr id="21" name="t21"/>
          <p:cNvSpPr txBox="1"/>
          <p:nvPr/>
        </p:nvSpPr>
        <p:spPr>
          <a:xfrm>
            <a:off x="2240280" y="49743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Solo sabor. No tiene efecto de rendimiento demostrado, pero ayuda a que se lo tomen.</a:t>
            </a:r>
          </a:p>
        </p:txBody>
      </p:sp>
      <p:sp>
        <p:nvSpPr>
          <p:cNvPr id="22" name="f22"/>
          <p:cNvSpPr/>
          <p:nvPr/>
        </p:nvSpPr>
        <p:spPr>
          <a:xfrm>
            <a:off x="685800" y="5522976"/>
            <a:ext cx="5486400" cy="10973"/>
          </a:xfrm>
          <a:prstGeom prst="rect">
            <a:avLst/>
          </a:prstGeom>
          <a:solidFill>
            <a:srgbClr val="1E3138"/>
          </a:solidFill>
          <a:ln>
            <a:noFill/>
          </a:ln>
        </p:spPr>
        <p:txBody>
          <a:bodyPr/>
          <a:lstStyle/>
          <a:p>
            <a:endParaRPr lang="es-PE"/>
          </a:p>
        </p:txBody>
      </p:sp>
      <p:sp>
        <p:nvSpPr>
          <p:cNvPr id="23" name="t23"/>
          <p:cNvSpPr txBox="1"/>
          <p:nvPr/>
        </p:nvSpPr>
        <p:spPr>
          <a:xfrm>
            <a:off x="685800" y="56144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¼ cucharadita</a:t>
            </a:r>
          </a:p>
        </p:txBody>
      </p:sp>
      <p:sp>
        <p:nvSpPr>
          <p:cNvPr id="24" name="t24"/>
          <p:cNvSpPr txBox="1"/>
          <p:nvPr/>
        </p:nvSpPr>
        <p:spPr>
          <a:xfrm>
            <a:off x="2240280" y="55778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Sal</a:t>
            </a:r>
          </a:p>
        </p:txBody>
      </p:sp>
      <p:sp>
        <p:nvSpPr>
          <p:cNvPr id="25" name="t25"/>
          <p:cNvSpPr txBox="1"/>
          <p:nvPr/>
        </p:nvSpPr>
        <p:spPr>
          <a:xfrm>
            <a:off x="2240280" y="58887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Unos 575 mg de sodio, para el sudor de varias rondas seguidas.</a:t>
            </a:r>
          </a:p>
        </p:txBody>
      </p:sp>
      <p:sp>
        <p:nvSpPr>
          <p:cNvPr id="26" name="f26"/>
          <p:cNvSpPr/>
          <p:nvPr/>
        </p:nvSpPr>
        <p:spPr>
          <a:xfrm>
            <a:off x="685800" y="6437376"/>
            <a:ext cx="5486400" cy="10973"/>
          </a:xfrm>
          <a:prstGeom prst="rect">
            <a:avLst/>
          </a:prstGeom>
          <a:solidFill>
            <a:srgbClr val="1E3138"/>
          </a:solidFill>
          <a:ln>
            <a:noFill/>
          </a:ln>
        </p:spPr>
        <p:txBody>
          <a:bodyPr/>
          <a:lstStyle/>
          <a:p>
            <a:endParaRPr lang="es-PE"/>
          </a:p>
        </p:txBody>
      </p:sp>
      <p:sp>
        <p:nvSpPr>
          <p:cNvPr id="27" name="f27"/>
          <p:cNvSpPr/>
          <p:nvPr/>
        </p:nvSpPr>
        <p:spPr>
          <a:xfrm>
            <a:off x="6720840" y="1920240"/>
            <a:ext cx="18288" cy="4206240"/>
          </a:xfrm>
          <a:prstGeom prst="rect">
            <a:avLst/>
          </a:prstGeom>
          <a:solidFill>
            <a:srgbClr val="2B4149"/>
          </a:solidFill>
          <a:ln>
            <a:noFill/>
          </a:ln>
        </p:spPr>
        <p:txBody>
          <a:bodyPr/>
          <a:lstStyle/>
          <a:p>
            <a:endParaRPr lang="es-PE"/>
          </a:p>
        </p:txBody>
      </p:sp>
      <p:sp>
        <p:nvSpPr>
          <p:cNvPr id="28" name="t28"/>
          <p:cNvSpPr txBox="1"/>
          <p:nvPr/>
        </p:nvSpPr>
        <p:spPr>
          <a:xfrm>
            <a:off x="7132320" y="1920240"/>
            <a:ext cx="43434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LAS REGLAS QUE NADIE PUEDE SALTARSE</a:t>
            </a:r>
          </a:p>
        </p:txBody>
      </p:sp>
      <p:sp>
        <p:nvSpPr>
          <p:cNvPr id="29" name="t29"/>
          <p:cNvSpPr txBox="1"/>
          <p:nvPr/>
        </p:nvSpPr>
        <p:spPr>
          <a:xfrm>
            <a:off x="7132320" y="2377440"/>
            <a:ext cx="4297680" cy="2743200"/>
          </a:xfrm>
          <a:prstGeom prst="rect">
            <a:avLst/>
          </a:prstGeom>
          <a:noFill/>
        </p:spPr>
        <p:txBody>
          <a:bodyPr wrap="square" lIns="0" tIns="0" rIns="0" bIns="0" anchor="ctr">
            <a:normAutofit/>
          </a:bodyPr>
          <a:lstStyle/>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Tómalo 2 a 3 horas antes de la primera ronda.</a:t>
            </a:r>
          </a:p>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Nada de enjuague bucal ese día: mata las bacterias de tu boca que convierten el nitrato, y sin ellas no hay efecto.</a:t>
            </a:r>
          </a:p>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Pruébalo primero en un entreno. El día de la competencia no se estrena nada.</a:t>
            </a:r>
          </a:p>
          <a:p>
            <a:pPr marL="180000" indent="-180000" algn="l">
              <a:lnSpc>
                <a:spcPct val="118000"/>
              </a:lnSpc>
              <a:spcBef>
                <a:spcPts val="900"/>
              </a:spcBef>
              <a:buClr>
                <a:srgbClr val="FF5A36"/>
              </a:buClr>
              <a:buSzPct val="90000"/>
              <a:buFont typeface="Arial"/>
              <a:buChar char="●"/>
            </a:pPr>
            <a:r>
              <a:rPr lang="es-PE" sz="1200" dirty="0">
                <a:solidFill>
                  <a:srgbClr val="F2F6F4"/>
                </a:solidFill>
                <a:latin typeface="Calibri"/>
                <a:cs typeface="Calibri"/>
              </a:rPr>
              <a:t>Tener en cuenta que las deposiciones saldrán de color rojizo</a:t>
            </a:r>
            <a:r>
              <a:rPr lang="es-PE" sz="1200" b="0" spc="0" dirty="0">
                <a:solidFill>
                  <a:srgbClr val="F2F6F4"/>
                </a:solidFill>
                <a:latin typeface="Calibri"/>
                <a:cs typeface="Calibri"/>
              </a:rPr>
              <a:t>. Es normal, no es sangre.</a:t>
            </a:r>
          </a:p>
        </p:txBody>
      </p:sp>
      <p:sp>
        <p:nvSpPr>
          <p:cNvPr id="30" name="t30"/>
          <p:cNvSpPr txBox="1"/>
          <p:nvPr/>
        </p:nvSpPr>
        <p:spPr>
          <a:xfrm>
            <a:off x="7132320" y="5349240"/>
            <a:ext cx="4343400" cy="777240"/>
          </a:xfrm>
          <a:prstGeom prst="rect">
            <a:avLst/>
          </a:prstGeom>
          <a:noFill/>
        </p:spPr>
        <p:txBody>
          <a:bodyPr wrap="square" lIns="0" tIns="0" rIns="0" bIns="0" anchor="t">
            <a:normAutofit/>
          </a:bodyPr>
          <a:lstStyle/>
          <a:p>
            <a:pPr algn="l">
              <a:lnSpc>
                <a:spcPct val="125000"/>
              </a:lnSpc>
              <a:spcBef>
                <a:spcPts val="0"/>
              </a:spcBef>
            </a:pPr>
            <a:r>
              <a:rPr lang="es-PE" sz="950" b="0" spc="0" dirty="0">
                <a:solidFill>
                  <a:srgbClr val="6B8286"/>
                </a:solidFill>
                <a:latin typeface="Consolas"/>
                <a:cs typeface="Consolas"/>
              </a:rPr>
              <a:t>Un jugo casero no permite garantizar los 6-8 mmol de nitrato: depende de la beterraga, del suelo y de la variedad. Tómalo como una ayuda, no como una dosis exacta.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10 · SUPLEMENTOS</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V10</a:t>
            </a:r>
          </a:p>
        </p:txBody>
      </p:sp>
      <p:sp>
        <p:nvSpPr>
          <p:cNvPr id="6" name="t6"/>
          <p:cNvSpPr txBox="1"/>
          <p:nvPr/>
        </p:nvSpPr>
        <p:spPr>
          <a:xfrm>
            <a:off x="685800" y="932688"/>
            <a:ext cx="5029200" cy="1371600"/>
          </a:xfrm>
          <a:prstGeom prst="rect">
            <a:avLst/>
          </a:prstGeom>
          <a:noFill/>
        </p:spPr>
        <p:txBody>
          <a:bodyPr wrap="square" lIns="0" tIns="0" rIns="0" bIns="0" anchor="t">
            <a:normAutofit/>
          </a:bodyPr>
          <a:lstStyle/>
          <a:p>
            <a:pPr algn="l">
              <a:lnSpc>
                <a:spcPct val="92000"/>
              </a:lnSpc>
              <a:spcBef>
                <a:spcPts val="0"/>
              </a:spcBef>
            </a:pPr>
            <a:r>
              <a:rPr lang="es-PE" sz="3000" b="1" spc="0" dirty="0">
                <a:solidFill>
                  <a:srgbClr val="FF4D5E"/>
                </a:solidFill>
                <a:latin typeface="Arial Black"/>
                <a:cs typeface="Arial Black"/>
              </a:rPr>
              <a:t>LO QUE NO</a:t>
            </a:r>
          </a:p>
          <a:p>
            <a:pPr algn="l">
              <a:lnSpc>
                <a:spcPct val="92000"/>
              </a:lnSpc>
              <a:spcBef>
                <a:spcPts val="0"/>
              </a:spcBef>
            </a:pPr>
            <a:r>
              <a:rPr lang="es-PE" sz="3000" b="1" spc="0" dirty="0">
                <a:solidFill>
                  <a:srgbClr val="FF4D5E"/>
                </a:solidFill>
                <a:latin typeface="Arial Black"/>
                <a:cs typeface="Arial Black"/>
              </a:rPr>
              <a:t>NECESITAS</a:t>
            </a:r>
          </a:p>
        </p:txBody>
      </p:sp>
      <p:sp>
        <p:nvSpPr>
          <p:cNvPr id="7" name="t7"/>
          <p:cNvSpPr txBox="1"/>
          <p:nvPr/>
        </p:nvSpPr>
        <p:spPr>
          <a:xfrm>
            <a:off x="685800" y="2286000"/>
            <a:ext cx="5029200" cy="2286000"/>
          </a:xfrm>
          <a:prstGeom prst="rect">
            <a:avLst/>
          </a:prstGeom>
          <a:noFill/>
        </p:spPr>
        <p:txBody>
          <a:bodyPr wrap="square" lIns="0" tIns="0" rIns="0" bIns="0" anchor="ctr">
            <a:normAutofit/>
          </a:bodyPr>
          <a:lstStyle/>
          <a:p>
            <a:pPr marL="180000" indent="-180000" algn="l">
              <a:lnSpc>
                <a:spcPct val="118000"/>
              </a:lnSpc>
              <a:spcBef>
                <a:spcPts val="900"/>
              </a:spcBef>
              <a:buClr>
                <a:srgbClr val="FF4D5E"/>
              </a:buClr>
              <a:buSzPct val="90000"/>
              <a:buFont typeface="Arial"/>
              <a:buChar char="●"/>
            </a:pPr>
            <a:r>
              <a:rPr lang="es-PE" sz="1250" b="0" spc="0" dirty="0">
                <a:solidFill>
                  <a:srgbClr val="F2F6F4"/>
                </a:solidFill>
                <a:latin typeface="Calibri"/>
                <a:cs typeface="Calibri"/>
              </a:rPr>
              <a:t>Energizantes (Volt, Red Bull, Monster). La Academia Americana de Pediatría dice que no tienen lugar en la dieta de un adolescente.</a:t>
            </a:r>
          </a:p>
          <a:p>
            <a:pPr marL="180000" indent="-180000" algn="l">
              <a:lnSpc>
                <a:spcPct val="118000"/>
              </a:lnSpc>
              <a:spcBef>
                <a:spcPts val="900"/>
              </a:spcBef>
              <a:buClr>
                <a:srgbClr val="FF4D5E"/>
              </a:buClr>
              <a:buSzPct val="90000"/>
              <a:buFont typeface="Arial"/>
              <a:buChar char="●"/>
            </a:pPr>
            <a:r>
              <a:rPr lang="es-PE" sz="1250" b="0" spc="0" dirty="0">
                <a:solidFill>
                  <a:srgbClr val="F2F6F4"/>
                </a:solidFill>
                <a:latin typeface="Calibri"/>
                <a:cs typeface="Calibri"/>
              </a:rPr>
              <a:t>Más de 100 mg de cafeína al día entre los 12 y los 18. Una sola lata ya puede pasarse.</a:t>
            </a:r>
          </a:p>
          <a:p>
            <a:pPr marL="180000" indent="-180000" algn="l">
              <a:lnSpc>
                <a:spcPct val="118000"/>
              </a:lnSpc>
              <a:spcBef>
                <a:spcPts val="900"/>
              </a:spcBef>
              <a:buClr>
                <a:srgbClr val="FF4D5E"/>
              </a:buClr>
              <a:buSzPct val="90000"/>
              <a:buFont typeface="Arial"/>
              <a:buChar char="●"/>
            </a:pPr>
            <a:r>
              <a:rPr lang="es-PE" sz="1250" b="0" spc="0" dirty="0">
                <a:solidFill>
                  <a:srgbClr val="F2F6F4"/>
                </a:solidFill>
                <a:latin typeface="Calibri"/>
                <a:cs typeface="Calibri"/>
              </a:rPr>
              <a:t>Quemadores y "detox". Nada de eso, nunca.</a:t>
            </a:r>
          </a:p>
          <a:p>
            <a:pPr marL="180000" indent="-180000" algn="l">
              <a:lnSpc>
                <a:spcPct val="118000"/>
              </a:lnSpc>
              <a:spcBef>
                <a:spcPts val="900"/>
              </a:spcBef>
              <a:buClr>
                <a:srgbClr val="FF4D5E"/>
              </a:buClr>
              <a:buSzPct val="90000"/>
              <a:buFont typeface="Arial"/>
              <a:buChar char="●"/>
            </a:pPr>
            <a:r>
              <a:rPr lang="es-PE" sz="1250" b="0" spc="0" dirty="0">
                <a:solidFill>
                  <a:srgbClr val="F2F6F4"/>
                </a:solidFill>
                <a:latin typeface="Calibri"/>
                <a:cs typeface="Calibri"/>
              </a:rPr>
              <a:t>Proteína en polvo como base. Cuesta lo que 30 huevos.</a:t>
            </a:r>
          </a:p>
        </p:txBody>
      </p:sp>
      <p:sp>
        <p:nvSpPr>
          <p:cNvPr id="8" name="t8"/>
          <p:cNvSpPr txBox="1"/>
          <p:nvPr/>
        </p:nvSpPr>
        <p:spPr>
          <a:xfrm>
            <a:off x="685800" y="4681728"/>
            <a:ext cx="5029200" cy="32004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AAP, Pediatrics 2011;127(6):1182-1189</a:t>
            </a:r>
          </a:p>
        </p:txBody>
      </p:sp>
      <p:sp>
        <p:nvSpPr>
          <p:cNvPr id="9" name="f9"/>
          <p:cNvSpPr/>
          <p:nvPr/>
        </p:nvSpPr>
        <p:spPr>
          <a:xfrm>
            <a:off x="6035040" y="932688"/>
            <a:ext cx="18288" cy="4069080"/>
          </a:xfrm>
          <a:prstGeom prst="rect">
            <a:avLst/>
          </a:prstGeom>
          <a:solidFill>
            <a:srgbClr val="2B4149"/>
          </a:solidFill>
          <a:ln>
            <a:noFill/>
          </a:ln>
        </p:spPr>
        <p:txBody>
          <a:bodyPr/>
          <a:lstStyle/>
          <a:p>
            <a:endParaRPr lang="es-PE"/>
          </a:p>
        </p:txBody>
      </p:sp>
      <p:sp>
        <p:nvSpPr>
          <p:cNvPr id="10" name="t10"/>
          <p:cNvSpPr txBox="1"/>
          <p:nvPr/>
        </p:nvSpPr>
        <p:spPr>
          <a:xfrm>
            <a:off x="6446520" y="932688"/>
            <a:ext cx="5029200" cy="1371600"/>
          </a:xfrm>
          <a:prstGeom prst="rect">
            <a:avLst/>
          </a:prstGeom>
          <a:noFill/>
        </p:spPr>
        <p:txBody>
          <a:bodyPr wrap="square" lIns="0" tIns="0" rIns="0" bIns="0" anchor="t">
            <a:normAutofit/>
          </a:bodyPr>
          <a:lstStyle/>
          <a:p>
            <a:pPr algn="l">
              <a:lnSpc>
                <a:spcPct val="92000"/>
              </a:lnSpc>
              <a:spcBef>
                <a:spcPts val="0"/>
              </a:spcBef>
            </a:pPr>
            <a:r>
              <a:rPr lang="es-PE" sz="3000" b="1" spc="0" dirty="0">
                <a:solidFill>
                  <a:srgbClr val="4ADE80"/>
                </a:solidFill>
                <a:latin typeface="Arial Black"/>
                <a:cs typeface="Arial Black"/>
              </a:rPr>
              <a:t>LO QUE SÍ</a:t>
            </a:r>
          </a:p>
          <a:p>
            <a:pPr algn="l">
              <a:lnSpc>
                <a:spcPct val="92000"/>
              </a:lnSpc>
              <a:spcBef>
                <a:spcPts val="0"/>
              </a:spcBef>
            </a:pPr>
            <a:r>
              <a:rPr lang="es-PE" sz="3000" b="1" spc="0" dirty="0">
                <a:solidFill>
                  <a:srgbClr val="4ADE80"/>
                </a:solidFill>
                <a:latin typeface="Arial Black"/>
                <a:cs typeface="Arial Black"/>
              </a:rPr>
              <a:t>FUNCIONA</a:t>
            </a:r>
          </a:p>
        </p:txBody>
      </p:sp>
      <p:sp>
        <p:nvSpPr>
          <p:cNvPr id="11" name="t11"/>
          <p:cNvSpPr txBox="1"/>
          <p:nvPr/>
        </p:nvSpPr>
        <p:spPr>
          <a:xfrm>
            <a:off x="6446520" y="2286000"/>
            <a:ext cx="4937760" cy="2286000"/>
          </a:xfrm>
          <a:prstGeom prst="rect">
            <a:avLst/>
          </a:prstGeom>
          <a:noFill/>
        </p:spPr>
        <p:txBody>
          <a:bodyPr wrap="square" lIns="0" tIns="0" rIns="0" bIns="0" anchor="ctr">
            <a:normAutofit/>
          </a:bodyPr>
          <a:lstStyle/>
          <a:p>
            <a:pPr marL="180000" indent="-180000" algn="l">
              <a:lnSpc>
                <a:spcPct val="118000"/>
              </a:lnSpc>
              <a:spcBef>
                <a:spcPts val="900"/>
              </a:spcBef>
              <a:buClr>
                <a:srgbClr val="4ADE80"/>
              </a:buClr>
              <a:buSzPct val="90000"/>
              <a:buFont typeface="Arial"/>
              <a:buChar char="●"/>
            </a:pPr>
            <a:r>
              <a:rPr lang="es-PE" sz="1250" b="0" spc="0" dirty="0">
                <a:solidFill>
                  <a:srgbClr val="F2F6F4"/>
                </a:solidFill>
                <a:latin typeface="Calibri"/>
                <a:cs typeface="Calibri"/>
              </a:rPr>
              <a:t>Comer suficiente, todos los días.</a:t>
            </a:r>
          </a:p>
          <a:p>
            <a:pPr marL="180000" indent="-180000" algn="l">
              <a:lnSpc>
                <a:spcPct val="118000"/>
              </a:lnSpc>
              <a:spcBef>
                <a:spcPts val="900"/>
              </a:spcBef>
              <a:buClr>
                <a:srgbClr val="4ADE80"/>
              </a:buClr>
              <a:buSzPct val="90000"/>
              <a:buFont typeface="Arial"/>
              <a:buChar char="●"/>
            </a:pPr>
            <a:r>
              <a:rPr lang="es-PE" sz="1250" b="0" spc="0" dirty="0">
                <a:solidFill>
                  <a:srgbClr val="F2F6F4"/>
                </a:solidFill>
                <a:latin typeface="Calibri"/>
                <a:cs typeface="Calibri"/>
              </a:rPr>
              <a:t>Dormir 8 a 10 horas. El suplemento más potente que existe.</a:t>
            </a:r>
          </a:p>
          <a:p>
            <a:pPr marL="180000" indent="-180000" algn="l">
              <a:lnSpc>
                <a:spcPct val="118000"/>
              </a:lnSpc>
              <a:spcBef>
                <a:spcPts val="900"/>
              </a:spcBef>
              <a:buClr>
                <a:srgbClr val="4ADE80"/>
              </a:buClr>
              <a:buSzPct val="90000"/>
              <a:buFont typeface="Arial"/>
              <a:buChar char="●"/>
            </a:pPr>
            <a:r>
              <a:rPr lang="es-PE" sz="1250" b="0" spc="0" dirty="0">
                <a:solidFill>
                  <a:srgbClr val="F2F6F4"/>
                </a:solidFill>
                <a:latin typeface="Calibri"/>
                <a:cs typeface="Calibri"/>
              </a:rPr>
              <a:t>Agua, y algo de sal si sudas mucho.</a:t>
            </a:r>
          </a:p>
          <a:p>
            <a:pPr marL="180000" indent="-180000" algn="l">
              <a:lnSpc>
                <a:spcPct val="118000"/>
              </a:lnSpc>
              <a:spcBef>
                <a:spcPts val="900"/>
              </a:spcBef>
              <a:buClr>
                <a:srgbClr val="4ADE80"/>
              </a:buClr>
              <a:buSzPct val="90000"/>
              <a:buFont typeface="Arial"/>
              <a:buChar char="●"/>
            </a:pPr>
            <a:r>
              <a:rPr lang="es-PE" sz="1250" b="0" spc="0" dirty="0">
                <a:solidFill>
                  <a:srgbClr val="F2F6F4"/>
                </a:solidFill>
                <a:latin typeface="Calibri"/>
                <a:cs typeface="Calibri"/>
              </a:rPr>
              <a:t>Constancia. Lo que haces siempre le gana a lo que haces una vez.</a:t>
            </a:r>
          </a:p>
        </p:txBody>
      </p:sp>
      <p:sp>
        <p:nvSpPr>
          <p:cNvPr id="12" name="f12"/>
          <p:cNvSpPr/>
          <p:nvPr/>
        </p:nvSpPr>
        <p:spPr>
          <a:xfrm>
            <a:off x="685800" y="5120640"/>
            <a:ext cx="10789920" cy="1325880"/>
          </a:xfrm>
          <a:prstGeom prst="roundRect">
            <a:avLst>
              <a:gd name="adj" fmla="val 5000"/>
            </a:avLst>
          </a:prstGeom>
          <a:solidFill>
            <a:srgbClr val="16232A"/>
          </a:solidFill>
          <a:ln w="12700">
            <a:solidFill>
              <a:srgbClr val="FFC93C"/>
            </a:solidFill>
          </a:ln>
        </p:spPr>
        <p:txBody>
          <a:bodyPr/>
          <a:lstStyle/>
          <a:p>
            <a:endParaRPr lang="es-PE"/>
          </a:p>
        </p:txBody>
      </p:sp>
      <p:sp>
        <p:nvSpPr>
          <p:cNvPr id="13" name="t13"/>
          <p:cNvSpPr txBox="1"/>
          <p:nvPr/>
        </p:nvSpPr>
        <p:spPr>
          <a:xfrm>
            <a:off x="1051560" y="5340096"/>
            <a:ext cx="100584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FC93C"/>
                </a:solidFill>
                <a:latin typeface="Arial Black"/>
                <a:cs typeface="Arial Black"/>
              </a:rPr>
              <a:t>¿Y LA CREATINA? LA VERDAD COMPLETA</a:t>
            </a:r>
          </a:p>
        </p:txBody>
      </p:sp>
      <p:sp>
        <p:nvSpPr>
          <p:cNvPr id="14" name="t14"/>
          <p:cNvSpPr txBox="1"/>
          <p:nvPr/>
        </p:nvSpPr>
        <p:spPr>
          <a:xfrm>
            <a:off x="1051560" y="5742432"/>
            <a:ext cx="10058400" cy="457200"/>
          </a:xfrm>
          <a:prstGeom prst="rect">
            <a:avLst/>
          </a:prstGeom>
          <a:noFill/>
        </p:spPr>
        <p:txBody>
          <a:bodyPr wrap="square" lIns="0" tIns="0" rIns="0" bIns="0" anchor="t">
            <a:normAutofit/>
          </a:bodyPr>
          <a:lstStyle/>
          <a:p>
            <a:pPr algn="l">
              <a:lnSpc>
                <a:spcPct val="120000"/>
              </a:lnSpc>
              <a:spcBef>
                <a:spcPts val="0"/>
              </a:spcBef>
            </a:pPr>
            <a:r>
              <a:rPr lang="es-PE" sz="1150" b="0" spc="0" dirty="0">
                <a:solidFill>
                  <a:srgbClr val="F2F6F4"/>
                </a:solidFill>
                <a:latin typeface="Calibri"/>
                <a:cs typeface="Calibri"/>
              </a:rPr>
              <a:t>La Sociedad Internacional de Nutrición Deportiva concluyó que no hay evidencia de que sea riesgosa antes de los 18 con supervisión. Pero a tu edad no es la pieza que falta: ninguna creatina arregla un desayuno que no existe.</a:t>
            </a:r>
          </a:p>
        </p:txBody>
      </p:sp>
      <p:sp>
        <p:nvSpPr>
          <p:cNvPr id="15" name="t15"/>
          <p:cNvSpPr txBox="1"/>
          <p:nvPr/>
        </p:nvSpPr>
        <p:spPr>
          <a:xfrm>
            <a:off x="1051560" y="6181344"/>
            <a:ext cx="10058400" cy="22860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Kreider et al., J Int Soc Sports Nutr 2017 — declaración de posición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CIERRE · TU PROYECTO DE ESTA SEMANA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TOP</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FC93C"/>
                </a:solidFill>
                <a:latin typeface="Arial Black"/>
                <a:cs typeface="Arial Black"/>
              </a:rPr>
              <a:t>EL RETO DE LOS 7 DÍAS</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500" b="0" spc="0" dirty="0">
                <a:solidFill>
                  <a:srgbClr val="9DB2B0"/>
                </a:solidFill>
                <a:latin typeface="Calibri"/>
                <a:cs typeface="Calibri"/>
              </a:rPr>
              <a:t>Cinco casillas al día. Siete días. Nada más.</a:t>
            </a:r>
          </a:p>
        </p:txBody>
      </p:sp>
      <p:sp>
        <p:nvSpPr>
          <p:cNvPr id="8" name="f8"/>
          <p:cNvSpPr/>
          <p:nvPr/>
        </p:nvSpPr>
        <p:spPr>
          <a:xfrm>
            <a:off x="685800" y="2331720"/>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9" name="f9"/>
          <p:cNvSpPr/>
          <p:nvPr/>
        </p:nvSpPr>
        <p:spPr>
          <a:xfrm>
            <a:off x="960120" y="2468880"/>
            <a:ext cx="329184" cy="329184"/>
          </a:xfrm>
          <a:prstGeom prst="roundRect">
            <a:avLst>
              <a:gd name="adj" fmla="val 15000"/>
            </a:avLst>
          </a:prstGeom>
          <a:noFill/>
          <a:ln w="12700">
            <a:solidFill>
              <a:srgbClr val="6B8286"/>
            </a:solidFill>
          </a:ln>
        </p:spPr>
        <p:txBody>
          <a:bodyPr/>
          <a:lstStyle/>
          <a:p>
            <a:endParaRPr lang="es-PE"/>
          </a:p>
        </p:txBody>
      </p:sp>
      <p:sp>
        <p:nvSpPr>
          <p:cNvPr id="10" name="t10"/>
          <p:cNvSpPr txBox="1"/>
          <p:nvPr/>
        </p:nvSpPr>
        <p:spPr>
          <a:xfrm>
            <a:off x="1508760" y="2487168"/>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Desayuné antes de salir de casa</a:t>
            </a:r>
          </a:p>
        </p:txBody>
      </p:sp>
      <p:sp>
        <p:nvSpPr>
          <p:cNvPr id="11" name="f11"/>
          <p:cNvSpPr/>
          <p:nvPr/>
        </p:nvSpPr>
        <p:spPr>
          <a:xfrm>
            <a:off x="685800" y="3081528"/>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2" name="f12"/>
          <p:cNvSpPr/>
          <p:nvPr/>
        </p:nvSpPr>
        <p:spPr>
          <a:xfrm>
            <a:off x="960120" y="3218688"/>
            <a:ext cx="329184" cy="329184"/>
          </a:xfrm>
          <a:prstGeom prst="roundRect">
            <a:avLst>
              <a:gd name="adj" fmla="val 15000"/>
            </a:avLst>
          </a:prstGeom>
          <a:noFill/>
          <a:ln w="12700">
            <a:solidFill>
              <a:srgbClr val="6B8286"/>
            </a:solidFill>
          </a:ln>
        </p:spPr>
        <p:txBody>
          <a:bodyPr/>
          <a:lstStyle/>
          <a:p>
            <a:endParaRPr lang="es-PE"/>
          </a:p>
        </p:txBody>
      </p:sp>
      <p:sp>
        <p:nvSpPr>
          <p:cNvPr id="13" name="t13"/>
          <p:cNvSpPr txBox="1"/>
          <p:nvPr/>
        </p:nvSpPr>
        <p:spPr>
          <a:xfrm>
            <a:off x="1508760" y="3236976"/>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Comí algo 1 hora antes de entrenar</a:t>
            </a:r>
          </a:p>
        </p:txBody>
      </p:sp>
      <p:sp>
        <p:nvSpPr>
          <p:cNvPr id="14" name="f14"/>
          <p:cNvSpPr/>
          <p:nvPr/>
        </p:nvSpPr>
        <p:spPr>
          <a:xfrm>
            <a:off x="685800" y="3831336"/>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5" name="f15"/>
          <p:cNvSpPr/>
          <p:nvPr/>
        </p:nvSpPr>
        <p:spPr>
          <a:xfrm>
            <a:off x="960120" y="3968496"/>
            <a:ext cx="329184" cy="329184"/>
          </a:xfrm>
          <a:prstGeom prst="roundRect">
            <a:avLst>
              <a:gd name="adj" fmla="val 15000"/>
            </a:avLst>
          </a:prstGeom>
          <a:noFill/>
          <a:ln w="12700">
            <a:solidFill>
              <a:srgbClr val="6B8286"/>
            </a:solidFill>
          </a:ln>
        </p:spPr>
        <p:txBody>
          <a:bodyPr/>
          <a:lstStyle/>
          <a:p>
            <a:endParaRPr lang="es-PE"/>
          </a:p>
        </p:txBody>
      </p:sp>
      <p:sp>
        <p:nvSpPr>
          <p:cNvPr id="16" name="t16"/>
          <p:cNvSpPr txBox="1"/>
          <p:nvPr/>
        </p:nvSpPr>
        <p:spPr>
          <a:xfrm>
            <a:off x="1508760" y="3986784"/>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Terminé mi botella de agua en la sesión</a:t>
            </a:r>
          </a:p>
        </p:txBody>
      </p:sp>
      <p:sp>
        <p:nvSpPr>
          <p:cNvPr id="17" name="f17"/>
          <p:cNvSpPr/>
          <p:nvPr/>
        </p:nvSpPr>
        <p:spPr>
          <a:xfrm>
            <a:off x="685800" y="4581144"/>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8" name="f18"/>
          <p:cNvSpPr/>
          <p:nvPr/>
        </p:nvSpPr>
        <p:spPr>
          <a:xfrm>
            <a:off x="960120" y="4718304"/>
            <a:ext cx="329184" cy="329184"/>
          </a:xfrm>
          <a:prstGeom prst="roundRect">
            <a:avLst>
              <a:gd name="adj" fmla="val 15000"/>
            </a:avLst>
          </a:prstGeom>
          <a:noFill/>
          <a:ln w="12700">
            <a:solidFill>
              <a:srgbClr val="6B8286"/>
            </a:solidFill>
          </a:ln>
        </p:spPr>
        <p:txBody>
          <a:bodyPr/>
          <a:lstStyle/>
          <a:p>
            <a:endParaRPr lang="es-PE"/>
          </a:p>
        </p:txBody>
      </p:sp>
      <p:sp>
        <p:nvSpPr>
          <p:cNvPr id="19" name="t19"/>
          <p:cNvSpPr txBox="1"/>
          <p:nvPr/>
        </p:nvSpPr>
        <p:spPr>
          <a:xfrm>
            <a:off x="1508760" y="4736592"/>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Comí carbo + proteína dentro de las 2 h después</a:t>
            </a:r>
          </a:p>
        </p:txBody>
      </p:sp>
      <p:sp>
        <p:nvSpPr>
          <p:cNvPr id="20" name="f20"/>
          <p:cNvSpPr/>
          <p:nvPr/>
        </p:nvSpPr>
        <p:spPr>
          <a:xfrm>
            <a:off x="685800" y="5330952"/>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21" name="f21"/>
          <p:cNvSpPr/>
          <p:nvPr/>
        </p:nvSpPr>
        <p:spPr>
          <a:xfrm>
            <a:off x="960120" y="5468112"/>
            <a:ext cx="329184" cy="329184"/>
          </a:xfrm>
          <a:prstGeom prst="roundRect">
            <a:avLst>
              <a:gd name="adj" fmla="val 15000"/>
            </a:avLst>
          </a:prstGeom>
          <a:noFill/>
          <a:ln w="12700">
            <a:solidFill>
              <a:srgbClr val="6B8286"/>
            </a:solidFill>
          </a:ln>
        </p:spPr>
        <p:txBody>
          <a:bodyPr/>
          <a:lstStyle/>
          <a:p>
            <a:endParaRPr lang="es-PE"/>
          </a:p>
        </p:txBody>
      </p:sp>
      <p:sp>
        <p:nvSpPr>
          <p:cNvPr id="22" name="t22"/>
          <p:cNvSpPr txBox="1"/>
          <p:nvPr/>
        </p:nvSpPr>
        <p:spPr>
          <a:xfrm>
            <a:off x="1508760" y="5486400"/>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Dormí 8 horas o más</a:t>
            </a:r>
          </a:p>
        </p:txBody>
      </p:sp>
      <p:sp>
        <p:nvSpPr>
          <p:cNvPr id="23" name="t23"/>
          <p:cNvSpPr txBox="1"/>
          <p:nvPr/>
        </p:nvSpPr>
        <p:spPr>
          <a:xfrm>
            <a:off x="685800" y="6108192"/>
            <a:ext cx="10789920" cy="365760"/>
          </a:xfrm>
          <a:prstGeom prst="rect">
            <a:avLst/>
          </a:prstGeom>
          <a:noFill/>
        </p:spPr>
        <p:txBody>
          <a:bodyPr wrap="square" lIns="0" tIns="0" rIns="0" bIns="0" anchor="t">
            <a:normAutofit/>
          </a:bodyPr>
          <a:lstStyle/>
          <a:p>
            <a:pPr algn="l">
              <a:lnSpc>
                <a:spcPct val="100000"/>
              </a:lnSpc>
              <a:spcBef>
                <a:spcPts val="0"/>
              </a:spcBef>
            </a:pPr>
            <a:r>
              <a:rPr lang="es-PE" sz="1300" b="0" spc="0" dirty="0">
                <a:solidFill>
                  <a:srgbClr val="FFC93C"/>
                </a:solidFill>
                <a:latin typeface="Consolas"/>
                <a:cs typeface="Consolas"/>
              </a:rPr>
              <a:t>Trae tu tarjeta marcada la próxima semana.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f3"/>
          <p:cNvSpPr/>
          <p:nvPr/>
        </p:nvSpPr>
        <p:spPr>
          <a:xfrm>
            <a:off x="685800" y="914400"/>
            <a:ext cx="82296" cy="502920"/>
          </a:xfrm>
          <a:prstGeom prst="rect">
            <a:avLst/>
          </a:prstGeom>
          <a:solidFill>
            <a:srgbClr val="FF5A36"/>
          </a:solidFill>
          <a:ln>
            <a:noFill/>
          </a:ln>
        </p:spPr>
        <p:txBody>
          <a:bodyPr/>
          <a:lstStyle/>
          <a:p>
            <a:endParaRPr lang="es-PE"/>
          </a:p>
        </p:txBody>
      </p:sp>
      <p:sp>
        <p:nvSpPr>
          <p:cNvPr id="4" name="t4"/>
          <p:cNvSpPr txBox="1"/>
          <p:nvPr/>
        </p:nvSpPr>
        <p:spPr>
          <a:xfrm>
            <a:off x="960120" y="914400"/>
            <a:ext cx="8229600" cy="365760"/>
          </a:xfrm>
          <a:prstGeom prst="rect">
            <a:avLst/>
          </a:prstGeom>
          <a:noFill/>
        </p:spPr>
        <p:txBody>
          <a:bodyPr wrap="square" lIns="0" tIns="0" rIns="0" bIns="0" anchor="t">
            <a:normAutofit/>
          </a:bodyPr>
          <a:lstStyle/>
          <a:p>
            <a:pPr algn="l">
              <a:lnSpc>
                <a:spcPct val="100000"/>
              </a:lnSpc>
              <a:spcBef>
                <a:spcPts val="0"/>
              </a:spcBef>
            </a:pPr>
            <a:r>
              <a:rPr lang="es-PE" sz="1050" b="0" spc="300" dirty="0">
                <a:solidFill>
                  <a:srgbClr val="6B8286"/>
                </a:solidFill>
                <a:latin typeface="Consolas"/>
                <a:cs typeface="Consolas"/>
              </a:rPr>
              <a:t>NOS VEMOS EN EL MURO</a:t>
            </a:r>
          </a:p>
        </p:txBody>
      </p:sp>
      <p:sp>
        <p:nvSpPr>
          <p:cNvPr id="5" name="t5"/>
          <p:cNvSpPr txBox="1"/>
          <p:nvPr/>
        </p:nvSpPr>
        <p:spPr>
          <a:xfrm>
            <a:off x="685800" y="1691640"/>
            <a:ext cx="10789920" cy="3017520"/>
          </a:xfrm>
          <a:prstGeom prst="rect">
            <a:avLst/>
          </a:prstGeom>
          <a:noFill/>
        </p:spPr>
        <p:txBody>
          <a:bodyPr wrap="square" lIns="0" tIns="0" rIns="0" bIns="0" anchor="t">
            <a:normAutofit/>
          </a:bodyPr>
          <a:lstStyle/>
          <a:p>
            <a:pPr algn="l">
              <a:lnSpc>
                <a:spcPct val="90000"/>
              </a:lnSpc>
              <a:spcBef>
                <a:spcPts val="0"/>
              </a:spcBef>
            </a:pPr>
            <a:r>
              <a:rPr lang="es-PE" sz="5600" b="1" spc="0" dirty="0">
                <a:solidFill>
                  <a:srgbClr val="F2F6F4"/>
                </a:solidFill>
                <a:latin typeface="Arial Black"/>
                <a:cs typeface="Arial Black"/>
              </a:rPr>
              <a:t>COME </a:t>
            </a:r>
            <a:r>
              <a:rPr lang="es-PE" sz="5600" b="1" dirty="0">
                <a:solidFill>
                  <a:srgbClr val="F2F6F4"/>
                </a:solidFill>
                <a:latin typeface="Arial Black"/>
                <a:cs typeface="Arial Black"/>
              </a:rPr>
              <a:t>PARA RENDIR AL MAXIMO EN TUS </a:t>
            </a:r>
            <a:r>
              <a:rPr lang="es-PE" sz="5600" b="1" dirty="0">
                <a:solidFill>
                  <a:schemeClr val="accent1"/>
                </a:solidFill>
                <a:latin typeface="Arial Black"/>
                <a:cs typeface="Arial Black"/>
              </a:rPr>
              <a:t>PEGUES.</a:t>
            </a:r>
            <a:endParaRPr lang="es-PE" sz="5600" b="1" spc="0" dirty="0">
              <a:solidFill>
                <a:schemeClr val="accent1"/>
              </a:solidFill>
              <a:latin typeface="Arial Black"/>
              <a:cs typeface="Arial Black"/>
            </a:endParaRPr>
          </a:p>
        </p:txBody>
      </p:sp>
      <p:sp>
        <p:nvSpPr>
          <p:cNvPr id="6" name="t6"/>
          <p:cNvSpPr txBox="1"/>
          <p:nvPr/>
        </p:nvSpPr>
        <p:spPr>
          <a:xfrm>
            <a:off x="685800" y="4892040"/>
            <a:ext cx="8686800" cy="822960"/>
          </a:xfrm>
          <a:prstGeom prst="rect">
            <a:avLst/>
          </a:prstGeom>
          <a:noFill/>
        </p:spPr>
        <p:txBody>
          <a:bodyPr wrap="square" lIns="0" tIns="0" rIns="0" bIns="0" anchor="t">
            <a:normAutofit/>
          </a:bodyPr>
          <a:lstStyle/>
          <a:p>
            <a:pPr algn="l">
              <a:lnSpc>
                <a:spcPct val="120000"/>
              </a:lnSpc>
              <a:spcBef>
                <a:spcPts val="0"/>
              </a:spcBef>
            </a:pPr>
            <a:r>
              <a:rPr lang="es-PE" sz="1800" b="0" spc="0" dirty="0">
                <a:solidFill>
                  <a:srgbClr val="9DB2B0"/>
                </a:solidFill>
                <a:latin typeface="Calibri"/>
                <a:cs typeface="Calibri"/>
              </a:rPr>
              <a:t>Porque el bloque no se pega con hambre. Se pega c</a:t>
            </a:r>
            <a:r>
              <a:rPr lang="es-PE" dirty="0">
                <a:solidFill>
                  <a:srgbClr val="9DB2B0"/>
                </a:solidFill>
                <a:latin typeface="Calibri"/>
                <a:cs typeface="Calibri"/>
              </a:rPr>
              <a:t>on fuerza</a:t>
            </a:r>
            <a:r>
              <a:rPr lang="es-PE" sz="1800" b="0" spc="0" dirty="0">
                <a:solidFill>
                  <a:srgbClr val="9DB2B0"/>
                </a:solidFill>
                <a:latin typeface="Calibri"/>
                <a:cs typeface="Calibri"/>
              </a:rPr>
              <a:t>, y </a:t>
            </a:r>
            <a:r>
              <a:rPr lang="es-PE" dirty="0">
                <a:solidFill>
                  <a:srgbClr val="9DB2B0"/>
                </a:solidFill>
                <a:latin typeface="Calibri"/>
                <a:cs typeface="Calibri"/>
              </a:rPr>
              <a:t>para eso hay que comer inteligentemente.</a:t>
            </a:r>
            <a:endParaRPr lang="es-PE" sz="1800" b="0" spc="0" dirty="0">
              <a:solidFill>
                <a:srgbClr val="9DB2B0"/>
              </a:solidFill>
              <a:latin typeface="Calibri"/>
              <a:cs typeface="Calibri"/>
            </a:endParaRPr>
          </a:p>
        </p:txBody>
      </p:sp>
      <p:sp>
        <p:nvSpPr>
          <p:cNvPr id="7" name="f7"/>
          <p:cNvSpPr/>
          <p:nvPr/>
        </p:nvSpPr>
        <p:spPr>
          <a:xfrm>
            <a:off x="685800" y="5715000"/>
            <a:ext cx="10789920" cy="18288"/>
          </a:xfrm>
          <a:prstGeom prst="rect">
            <a:avLst/>
          </a:prstGeom>
          <a:solidFill>
            <a:srgbClr val="2B4149"/>
          </a:solidFill>
          <a:ln>
            <a:noFill/>
          </a:ln>
        </p:spPr>
        <p:txBody>
          <a:bodyPr/>
          <a:lstStyle/>
          <a:p>
            <a:endParaRPr lang="es-PE"/>
          </a:p>
        </p:txBody>
      </p:sp>
      <p:sp>
        <p:nvSpPr>
          <p:cNvPr id="8" name="t8"/>
          <p:cNvSpPr txBox="1"/>
          <p:nvPr/>
        </p:nvSpPr>
        <p:spPr>
          <a:xfrm>
            <a:off x="685800" y="5943600"/>
            <a:ext cx="5486400" cy="320040"/>
          </a:xfrm>
          <a:prstGeom prst="rect">
            <a:avLst/>
          </a:prstGeom>
          <a:noFill/>
        </p:spPr>
        <p:txBody>
          <a:bodyPr wrap="square" lIns="0" tIns="0" rIns="0" bIns="0" anchor="t">
            <a:normAutofit/>
          </a:bodyPr>
          <a:lstStyle/>
          <a:p>
            <a:pPr algn="l">
              <a:lnSpc>
                <a:spcPct val="100000"/>
              </a:lnSpc>
              <a:spcBef>
                <a:spcPts val="0"/>
              </a:spcBef>
            </a:pPr>
            <a:r>
              <a:rPr lang="es-PE" sz="1150" b="1" spc="60" dirty="0">
                <a:solidFill>
                  <a:srgbClr val="F2F6F4"/>
                </a:solidFill>
                <a:latin typeface="Arial Black"/>
                <a:cs typeface="Arial Black"/>
              </a:rPr>
              <a:t>FRANJO TORRES BONDY</a:t>
            </a:r>
          </a:p>
        </p:txBody>
      </p:sp>
      <p:sp>
        <p:nvSpPr>
          <p:cNvPr id="9" name="t9"/>
          <p:cNvSpPr txBox="1"/>
          <p:nvPr/>
        </p:nvSpPr>
        <p:spPr>
          <a:xfrm>
            <a:off x="6858000" y="5971032"/>
            <a:ext cx="4617720" cy="320040"/>
          </a:xfrm>
          <a:prstGeom prst="rect">
            <a:avLst/>
          </a:prstGeom>
          <a:noFill/>
        </p:spPr>
        <p:txBody>
          <a:bodyPr wrap="square" lIns="0" tIns="0" rIns="0" bIns="0" anchor="t">
            <a:normAutofit/>
          </a:bodyPr>
          <a:lstStyle/>
          <a:p>
            <a:pPr algn="r">
              <a:lnSpc>
                <a:spcPct val="100000"/>
              </a:lnSpc>
              <a:spcBef>
                <a:spcPts val="0"/>
              </a:spcBef>
            </a:pPr>
            <a:r>
              <a:rPr lang="es-PE" sz="1150" b="0" spc="0" dirty="0">
                <a:solidFill>
                  <a:srgbClr val="FF5A36"/>
                </a:solidFill>
                <a:latin typeface="Consolas"/>
                <a:cs typeface="Consolas"/>
              </a:rPr>
              <a:t>@el_nutricionistafranjo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LÁMINA DE RESPALDO · DE DÓNDE SALEN LOS NÚMEROS</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a:t>
            </a:r>
          </a:p>
        </p:txBody>
      </p:sp>
      <p:sp>
        <p:nvSpPr>
          <p:cNvPr id="6" name="t6"/>
          <p:cNvSpPr txBox="1"/>
          <p:nvPr/>
        </p:nvSpPr>
        <p:spPr>
          <a:xfrm>
            <a:off x="685800" y="914400"/>
            <a:ext cx="10789920" cy="640080"/>
          </a:xfrm>
          <a:prstGeom prst="rect">
            <a:avLst/>
          </a:prstGeom>
          <a:noFill/>
        </p:spPr>
        <p:txBody>
          <a:bodyPr wrap="square" lIns="0" tIns="0" rIns="0" bIns="0" anchor="t">
            <a:normAutofit/>
          </a:bodyPr>
          <a:lstStyle/>
          <a:p>
            <a:pPr algn="l">
              <a:lnSpc>
                <a:spcPct val="100000"/>
              </a:lnSpc>
              <a:spcBef>
                <a:spcPts val="0"/>
              </a:spcBef>
            </a:pPr>
            <a:r>
              <a:rPr lang="es-PE" sz="2800" b="1" spc="0" dirty="0">
                <a:solidFill>
                  <a:srgbClr val="F2F6F4"/>
                </a:solidFill>
                <a:latin typeface="Arial Black"/>
                <a:cs typeface="Arial Black"/>
              </a:rPr>
              <a:t>LAS FUENTES</a:t>
            </a:r>
          </a:p>
        </p:txBody>
      </p:sp>
      <p:sp>
        <p:nvSpPr>
          <p:cNvPr id="7" name="t7"/>
          <p:cNvSpPr txBox="1"/>
          <p:nvPr/>
        </p:nvSpPr>
        <p:spPr>
          <a:xfrm>
            <a:off x="685800" y="1737360"/>
            <a:ext cx="5303520" cy="4343400"/>
          </a:xfrm>
          <a:prstGeom prst="rect">
            <a:avLst/>
          </a:prstGeom>
          <a:noFill/>
        </p:spPr>
        <p:txBody>
          <a:bodyPr wrap="square" lIns="0" tIns="0" rIns="0" bIns="0" anchor="t">
            <a:normAutofit/>
          </a:bodyPr>
          <a:lstStyle/>
          <a:p>
            <a:pPr algn="l">
              <a:lnSpc>
                <a:spcPct val="122000"/>
              </a:lnSpc>
              <a:spcBef>
                <a:spcPts val="700"/>
              </a:spcBef>
            </a:pPr>
            <a:r>
              <a:rPr lang="es-PE" sz="800" b="0" spc="0" dirty="0">
                <a:solidFill>
                  <a:srgbClr val="9DB2B0"/>
                </a:solidFill>
                <a:latin typeface="Calibri"/>
                <a:cs typeface="Calibri"/>
              </a:rPr>
              <a:t>1 · Mora-Fernández A, et al. Nutritional Assessment, Body Composition, and Low Energy Availability in Sport Climbing Athletes. Nutrients. 2024;16(17):2974.</a:t>
            </a:r>
          </a:p>
          <a:p>
            <a:pPr algn="l">
              <a:lnSpc>
                <a:spcPct val="122000"/>
              </a:lnSpc>
              <a:spcBef>
                <a:spcPts val="700"/>
              </a:spcBef>
            </a:pPr>
            <a:r>
              <a:rPr lang="es-PE" sz="800" b="0" spc="0" dirty="0">
                <a:solidFill>
                  <a:srgbClr val="9DB2B0"/>
                </a:solidFill>
                <a:latin typeface="Calibri"/>
                <a:cs typeface="Calibri"/>
              </a:rPr>
              <a:t>2 · Joubert L, et al. Prevalence of amenorrhea in elite female competitive climbers. Front Sports Act Living. 2022;4:895588.</a:t>
            </a:r>
          </a:p>
          <a:p>
            <a:pPr algn="l">
              <a:lnSpc>
                <a:spcPct val="122000"/>
              </a:lnSpc>
              <a:spcBef>
                <a:spcPts val="700"/>
              </a:spcBef>
            </a:pPr>
            <a:r>
              <a:rPr lang="es-PE" sz="800" b="0" spc="0" dirty="0">
                <a:solidFill>
                  <a:srgbClr val="9DB2B0"/>
                </a:solidFill>
                <a:latin typeface="Calibri"/>
                <a:cs typeface="Calibri"/>
              </a:rPr>
              <a:t>3 · Mountjoy M, et al. 2023 IOC consensus statement on Relative Energy Deficiency in Sport (REDs). Br J Sports Med. 2023;57(17):1073-1097.</a:t>
            </a:r>
          </a:p>
          <a:p>
            <a:pPr algn="l">
              <a:lnSpc>
                <a:spcPct val="122000"/>
              </a:lnSpc>
              <a:spcBef>
                <a:spcPts val="700"/>
              </a:spcBef>
            </a:pPr>
            <a:r>
              <a:rPr lang="es-PE" sz="800" b="0" spc="0" dirty="0">
                <a:solidFill>
                  <a:srgbClr val="9DB2B0"/>
                </a:solidFill>
                <a:latin typeface="Calibri"/>
                <a:cs typeface="Calibri"/>
              </a:rPr>
              <a:t>4 · Meyers RN, et al. Are Adolescent Climbers Aware of the Most Common Youth Climbing Injury and Safe Training Practices? Int J Environ Res Public Health. 2020;17(3):812.</a:t>
            </a:r>
          </a:p>
          <a:p>
            <a:pPr algn="l">
              <a:lnSpc>
                <a:spcPct val="122000"/>
              </a:lnSpc>
              <a:spcBef>
                <a:spcPts val="700"/>
              </a:spcBef>
            </a:pPr>
            <a:r>
              <a:rPr lang="es-PE" sz="800" b="0" spc="0" dirty="0">
                <a:solidFill>
                  <a:srgbClr val="9DB2B0"/>
                </a:solidFill>
                <a:latin typeface="Calibri"/>
                <a:cs typeface="Calibri"/>
              </a:rPr>
              <a:t>5 · Schöffl V, et al. Evaluation of a Diagnostic-Therapeutic Algorithm for Finger Epiphyseal Growth Plate Stress Injuries in Adolescent Climbers. Am J Sports Med. 2022.</a:t>
            </a:r>
          </a:p>
          <a:p>
            <a:pPr algn="l">
              <a:lnSpc>
                <a:spcPct val="122000"/>
              </a:lnSpc>
              <a:spcBef>
                <a:spcPts val="700"/>
              </a:spcBef>
            </a:pPr>
            <a:r>
              <a:rPr lang="es-PE" sz="800" b="0" spc="0" dirty="0">
                <a:solidFill>
                  <a:srgbClr val="9DB2B0"/>
                </a:solidFill>
                <a:latin typeface="Calibri"/>
                <a:cs typeface="Calibri"/>
              </a:rPr>
              <a:t>6 · Jaini A, et al. Finger growth plate injuries in adolescent sport climbers: a scoping review. PM&amp;R. 2025.</a:t>
            </a:r>
          </a:p>
          <a:p>
            <a:pPr algn="l">
              <a:lnSpc>
                <a:spcPct val="122000"/>
              </a:lnSpc>
              <a:spcBef>
                <a:spcPts val="700"/>
              </a:spcBef>
            </a:pPr>
            <a:r>
              <a:rPr lang="es-PE" sz="800" b="0" spc="0" dirty="0">
                <a:solidFill>
                  <a:srgbClr val="9DB2B0"/>
                </a:solidFill>
                <a:latin typeface="Calibri"/>
                <a:cs typeface="Calibri"/>
              </a:rPr>
              <a:t>7 · Weaver CM, et al. National Osteoporosis Foundation position statement on peak bone mass development and lifestyle factors. Osteoporos Int. 2016.</a:t>
            </a:r>
          </a:p>
          <a:p>
            <a:pPr algn="l">
              <a:lnSpc>
                <a:spcPct val="122000"/>
              </a:lnSpc>
              <a:spcBef>
                <a:spcPts val="700"/>
              </a:spcBef>
            </a:pPr>
            <a:r>
              <a:rPr lang="es-PE" sz="800" b="0" spc="0" dirty="0">
                <a:solidFill>
                  <a:srgbClr val="9DB2B0"/>
                </a:solidFill>
                <a:latin typeface="Calibri"/>
                <a:cs typeface="Calibri"/>
              </a:rPr>
              <a:t>8 · Hernández-Vásquez A, et al. Prevalencia de anemia en mujeres peruanas con los criterios OMS 2024: análisis de la ENDES 2023. Rev Peru Med Exp Salud Publica. 2024;41(3):324-326.</a:t>
            </a:r>
          </a:p>
          <a:p>
            <a:pPr algn="l">
              <a:lnSpc>
                <a:spcPct val="122000"/>
              </a:lnSpc>
              <a:spcBef>
                <a:spcPts val="700"/>
              </a:spcBef>
            </a:pPr>
            <a:r>
              <a:rPr lang="es-PE" sz="800" b="0" spc="0" dirty="0">
                <a:solidFill>
                  <a:srgbClr val="9DB2B0"/>
                </a:solidFill>
                <a:latin typeface="Calibri"/>
                <a:cs typeface="Calibri"/>
              </a:rPr>
              <a:t>9 · Sawka MN, et al. ACSM Position Stand: Exercise and Fluid Replacement. Med Sci Sports Exerc. 2007;39(2):377-390.</a:t>
            </a:r>
          </a:p>
        </p:txBody>
      </p:sp>
      <p:sp>
        <p:nvSpPr>
          <p:cNvPr id="8" name="t8"/>
          <p:cNvSpPr txBox="1"/>
          <p:nvPr/>
        </p:nvSpPr>
        <p:spPr>
          <a:xfrm>
            <a:off x="6263640" y="1737360"/>
            <a:ext cx="5212080" cy="4343400"/>
          </a:xfrm>
          <a:prstGeom prst="rect">
            <a:avLst/>
          </a:prstGeom>
          <a:noFill/>
        </p:spPr>
        <p:txBody>
          <a:bodyPr wrap="square" lIns="0" tIns="0" rIns="0" bIns="0" anchor="t">
            <a:normAutofit/>
          </a:bodyPr>
          <a:lstStyle/>
          <a:p>
            <a:pPr algn="l">
              <a:lnSpc>
                <a:spcPct val="122000"/>
              </a:lnSpc>
              <a:spcBef>
                <a:spcPts val="700"/>
              </a:spcBef>
            </a:pPr>
            <a:r>
              <a:rPr lang="es-PE" sz="800" b="0" spc="0" dirty="0">
                <a:solidFill>
                  <a:srgbClr val="9DB2B0"/>
                </a:solidFill>
                <a:latin typeface="Calibri"/>
                <a:cs typeface="Calibri"/>
              </a:rPr>
              <a:t>10 · Schneider MB, Benjamin HJ; AAP. Sports Drinks and Energy Drinks for Children and Adolescents: Are They Appropriate? Pediatrics. 2011;127(6):1182-1189.</a:t>
            </a:r>
          </a:p>
          <a:p>
            <a:pPr algn="l">
              <a:lnSpc>
                <a:spcPct val="122000"/>
              </a:lnSpc>
              <a:spcBef>
                <a:spcPts val="700"/>
              </a:spcBef>
            </a:pPr>
            <a:r>
              <a:rPr lang="es-PE" sz="800" b="0" spc="0" dirty="0">
                <a:solidFill>
                  <a:srgbClr val="9DB2B0"/>
                </a:solidFill>
                <a:latin typeface="Calibri"/>
                <a:cs typeface="Calibri"/>
              </a:rPr>
              <a:t>11 · Kreider RB, et al. ISSN position stand: safety and efficacy of creatine supplementation in exercise, sport, and medicine. J Int Soc Sports Nutr. 2017.</a:t>
            </a:r>
          </a:p>
          <a:p>
            <a:pPr algn="l">
              <a:lnSpc>
                <a:spcPct val="122000"/>
              </a:lnSpc>
              <a:spcBef>
                <a:spcPts val="700"/>
              </a:spcBef>
            </a:pPr>
            <a:r>
              <a:rPr lang="es-PE" sz="800" b="0" spc="0" dirty="0">
                <a:solidFill>
                  <a:srgbClr val="9DB2B0"/>
                </a:solidFill>
                <a:latin typeface="Calibri"/>
                <a:cs typeface="Calibri"/>
              </a:rPr>
              <a:t>12 · Winkler M, Künzell S, Augste C. The load structure in international competitive climbing. Front Sports Act Living. 2022;4:790336.</a:t>
            </a:r>
          </a:p>
          <a:p>
            <a:pPr algn="l">
              <a:lnSpc>
                <a:spcPct val="122000"/>
              </a:lnSpc>
              <a:spcBef>
                <a:spcPts val="700"/>
              </a:spcBef>
            </a:pPr>
            <a:r>
              <a:rPr lang="es-PE" sz="800" b="0" spc="0" dirty="0">
                <a:solidFill>
                  <a:srgbClr val="9DB2B0"/>
                </a:solidFill>
                <a:latin typeface="Calibri"/>
                <a:cs typeface="Calibri"/>
              </a:rPr>
              <a:t>13 · Maciejczyk M, et al. Climbing-specific exercise tests: energy system contributions and relationships with sport performance. Front Physiol. 2022;12:787902.</a:t>
            </a:r>
          </a:p>
          <a:p>
            <a:pPr algn="l">
              <a:lnSpc>
                <a:spcPct val="122000"/>
              </a:lnSpc>
              <a:spcBef>
                <a:spcPts val="700"/>
              </a:spcBef>
            </a:pPr>
            <a:r>
              <a:rPr lang="es-PE" sz="800" b="0" spc="0" dirty="0">
                <a:solidFill>
                  <a:srgbClr val="9DB2B0"/>
                </a:solidFill>
                <a:latin typeface="Calibri"/>
                <a:cs typeface="Calibri"/>
              </a:rPr>
              <a:t>14 · Demirli A, et al. Acute beetroot juice supplementation enhances judo-specific performance, explosive power, and muscular strength in recreational adolescent judokas. Front Nutr. 2025;12:1669799.</a:t>
            </a:r>
          </a:p>
          <a:p>
            <a:pPr algn="l">
              <a:lnSpc>
                <a:spcPct val="122000"/>
              </a:lnSpc>
              <a:spcBef>
                <a:spcPts val="700"/>
              </a:spcBef>
            </a:pPr>
            <a:r>
              <a:rPr lang="es-PE" sz="800" b="0" spc="0" dirty="0">
                <a:solidFill>
                  <a:srgbClr val="9DB2B0"/>
                </a:solidFill>
                <a:latin typeface="Calibri"/>
                <a:cs typeface="Calibri"/>
              </a:rPr>
              <a:t>15 · Australian Institute of Sport. AIS Sports Supplement Framework — Dietary Nitrate / Beetroot Juice (Grupo A).</a:t>
            </a:r>
          </a:p>
          <a:p>
            <a:pPr algn="l">
              <a:lnSpc>
                <a:spcPct val="122000"/>
              </a:lnSpc>
              <a:spcBef>
                <a:spcPts val="700"/>
              </a:spcBef>
            </a:pPr>
            <a:r>
              <a:rPr lang="es-PE" sz="800" b="0" spc="0" dirty="0">
                <a:solidFill>
                  <a:srgbClr val="9DB2B0"/>
                </a:solidFill>
                <a:latin typeface="Calibri"/>
                <a:cs typeface="Calibri"/>
              </a:rPr>
              <a:t>16 · Baker LB. Sweating rate and sweat sodium concentration in athletes: a review of methodology and intra/interindividual variability. Sports Med. 2017;47(Suppl 1):111-128.</a:t>
            </a:r>
          </a:p>
          <a:p>
            <a:pPr algn="l">
              <a:lnSpc>
                <a:spcPct val="122000"/>
              </a:lnSpc>
              <a:spcBef>
                <a:spcPts val="700"/>
              </a:spcBef>
            </a:pPr>
            <a:r>
              <a:rPr lang="es-PE" sz="800" b="0" spc="0" dirty="0">
                <a:solidFill>
                  <a:srgbClr val="9DB2B0"/>
                </a:solidFill>
                <a:latin typeface="Calibri"/>
                <a:cs typeface="Calibri"/>
              </a:rPr>
              <a:t>17 · EFSA Panel on Dietetic Products, Nutrition and Allergies. Scientific opinion on dietary reference values for water. EFSA Journal. 2010;8(3):1459.</a:t>
            </a:r>
          </a:p>
        </p:txBody>
      </p:sp>
      <p:sp>
        <p:nvSpPr>
          <p:cNvPr id="9" name="f9"/>
          <p:cNvSpPr/>
          <p:nvPr/>
        </p:nvSpPr>
        <p:spPr>
          <a:xfrm>
            <a:off x="685800" y="6144768"/>
            <a:ext cx="10789920" cy="12802"/>
          </a:xfrm>
          <a:prstGeom prst="rect">
            <a:avLst/>
          </a:prstGeom>
          <a:solidFill>
            <a:srgbClr val="2B4149"/>
          </a:solidFill>
          <a:ln>
            <a:noFill/>
          </a:ln>
        </p:spPr>
        <p:txBody>
          <a:bodyPr/>
          <a:lstStyle/>
          <a:p>
            <a:endParaRPr lang="es-PE"/>
          </a:p>
        </p:txBody>
      </p:sp>
      <p:sp>
        <p:nvSpPr>
          <p:cNvPr id="10" name="t10"/>
          <p:cNvSpPr txBox="1"/>
          <p:nvPr/>
        </p:nvSpPr>
        <p:spPr>
          <a:xfrm>
            <a:off x="685800" y="6309360"/>
            <a:ext cx="10789920" cy="320040"/>
          </a:xfrm>
          <a:prstGeom prst="rect">
            <a:avLst/>
          </a:prstGeom>
          <a:noFill/>
        </p:spPr>
        <p:txBody>
          <a:bodyPr wrap="square" lIns="0" tIns="0" rIns="0" bIns="0" anchor="t">
            <a:normAutofit/>
          </a:bodyPr>
          <a:lstStyle/>
          <a:p>
            <a:pPr algn="l">
              <a:lnSpc>
                <a:spcPct val="100000"/>
              </a:lnSpc>
              <a:spcBef>
                <a:spcPts val="0"/>
              </a:spcBef>
            </a:pPr>
            <a:r>
              <a:rPr lang="es-PE" sz="950" b="0" spc="0" dirty="0">
                <a:solidFill>
                  <a:srgbClr val="6B8286"/>
                </a:solidFill>
                <a:latin typeface="Consolas"/>
                <a:cs typeface="Consolas"/>
              </a:rPr>
              <a:t>Franjo Torres Bondy · @el_nutricionistafranjo</a:t>
            </a:r>
          </a:p>
        </p:txBody>
      </p:sp>
    </p:spTree>
  </p:cSld>
  <p:clrMapOvr>
    <a:masterClrMapping/>
  </p:clrMapOvr>
</p:sld>
</file>

<file path=ppt/theme/theme1.xml><?xml version="1.0" encoding="utf-8"?>
<a:theme xmlns:a="http://schemas.openxmlformats.org/drawingml/2006/main" name="Beta Nutricional">
  <a:themeElements>
    <a:clrScheme name="Beta">
      <a:dk1>
        <a:srgbClr val="0A1013"/>
      </a:dk1>
      <a:lt1>
        <a:srgbClr val="F2F6F4"/>
      </a:lt1>
      <a:dk2>
        <a:srgbClr val="16232A"/>
      </a:dk2>
      <a:lt2>
        <a:srgbClr val="9DB2B0"/>
      </a:lt2>
      <a:accent1>
        <a:srgbClr val="FF5A36"/>
      </a:accent1>
      <a:accent2>
        <a:srgbClr val="FFC93C"/>
      </a:accent2>
      <a:accent3>
        <a:srgbClr val="3FC1C9"/>
      </a:accent3>
      <a:accent4>
        <a:srgbClr val="4ADE80"/>
      </a:accent4>
      <a:accent5>
        <a:srgbClr val="FF4D5E"/>
      </a:accent5>
      <a:accent6>
        <a:srgbClr val="2B4149"/>
      </a:accent6>
      <a:hlink>
        <a:srgbClr val="FFC93C"/>
      </a:hlink>
      <a:folHlink>
        <a:srgbClr val="9DB2B0"/>
      </a:folHlink>
    </a:clrScheme>
    <a:fontScheme name="Beta">
      <a:majorFont>
        <a:latin typeface="Arial Black"/>
        <a:ea typeface=""/>
        <a:cs typeface=""/>
      </a:majorFont>
      <a:minorFont>
        <a:latin typeface="Calibri"/>
        <a:ea typeface=""/>
        <a:cs typeface=""/>
      </a:minorFont>
    </a:fontScheme>
    <a:fmtScheme name="Beta">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4915</Words>
  <Application>Microsoft Office PowerPoint</Application>
  <PresentationFormat>Panorámica</PresentationFormat>
  <Paragraphs>391</Paragraphs>
  <Slides>29</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Arial Black</vt:lpstr>
      <vt:lpstr>Calibri</vt:lpstr>
      <vt:lpstr>Consolas</vt:lpstr>
      <vt:lpstr>Beta Nutricional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Beta Nutricional</dc:title>
  <dc:subject>Charla de nutrición para escaladores de boulder de 11 a 16 años</dc:subject>
  <dc:creator>Franjo Torres Bondy</dc:creator>
  <cp:lastModifiedBy>USUARIO</cp:lastModifiedBy>
  <cp:revision>1</cp:revision>
  <dcterms:modified xsi:type="dcterms:W3CDTF">2026-08-19T22:09:17Z</dcterms:modified>
</cp:coreProperties>
</file>